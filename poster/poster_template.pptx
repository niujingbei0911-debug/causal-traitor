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4564320" cy="259232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564320" cy="832104"/>
          </a:xfrm>
          <a:prstGeom prst="rect">
            <a:avLst/>
          </a:prstGeom>
          <a:solidFill>
            <a:srgbClr val="16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47752"/>
            <a:ext cx="34564320" cy="466344"/>
          </a:xfrm>
          <a:prstGeom prst="rect">
            <a:avLst/>
          </a:prstGeom>
          <a:solidFill>
            <a:srgbClr val="16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95528" y="832104"/>
            <a:ext cx="32973264" cy="28072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078992"/>
            <a:ext cx="256032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4400" b="1">
                <a:solidFill>
                  <a:srgbClr val="163B6C"/>
                </a:solidFill>
                <a:latin typeface="Aptos"/>
              </a:rPr>
              <a:t>Selective Adversarial Causal Oversight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956816"/>
            <a:ext cx="24688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2200" b="1">
                <a:solidFill>
                  <a:srgbClr val="1F2328"/>
                </a:solidFill>
                <a:latin typeface="Aptos"/>
              </a:rPr>
              <a:t>Benchmark prototype + countermodel-grounded reference verifier for selective causal refusal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377440"/>
            <a:ext cx="17830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800" b="1">
                <a:solidFill>
                  <a:srgbClr val="1F2328"/>
                </a:solidFill>
                <a:latin typeface="Aptos"/>
              </a:rPr>
              <a:t>Jingbei Niu  •  Zeyuan Tong  •  Yuhang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743200"/>
            <a:ext cx="18745200" cy="283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500" b="0">
                <a:solidFill>
                  <a:srgbClr val="5B636E"/>
                </a:solidFill>
                <a:latin typeface="Aptos"/>
              </a:rPr>
              <a:t>Zhejiang University, College of Computer Science and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44952"/>
            <a:ext cx="146304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300" b="0">
                <a:solidFill>
                  <a:srgbClr val="2060B4"/>
                </a:solidFill>
                <a:latin typeface="Aptos"/>
              </a:rPr>
              <a:t>Exploratory snapshot | 3 seeds | 10/family | diff=0.55 | 95% CI</a:t>
            </a:r>
          </a:p>
        </p:txBody>
      </p:sp>
      <p:pic>
        <p:nvPicPr>
          <p:cNvPr id="10" name="Picture 9" descr="zju_templat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34920" y="1225296"/>
            <a:ext cx="5650992" cy="153897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95528" y="3995928"/>
            <a:ext cx="10652760" cy="73426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9264" y="4197096"/>
            <a:ext cx="10305288" cy="557784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solidFill>
              <a:srgbClr val="EA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" y="4242816"/>
            <a:ext cx="9994392" cy="402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2500" b="1">
                <a:solidFill>
                  <a:srgbClr val="163B6C"/>
                </a:solidFill>
                <a:latin typeface="Aptos"/>
              </a:rPr>
              <a:t>1. Motivation &amp; Abstract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4791456"/>
            <a:ext cx="10076688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700" b="0">
                <a:solidFill>
                  <a:srgbClr val="1F2328"/>
                </a:solidFill>
                <a:latin typeface="Aptos"/>
              </a:rPr>
              <a:t>Causal oversight systems must decide when a public causal claim is valid and when the available evidence is insufficient. Current prompt-only and heuristic judges often trade unsafe acceptance against over-refusal. We study this tension as a benchmark-first problem: the verifier receives only public scenario evidence, while gold SCMs and labels remain evaluator-only. The current artifact is an exploratory prototype, not a mature benchmark release.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9848" y="6812280"/>
            <a:ext cx="10113264" cy="1645920"/>
          </a:xfrm>
          <a:prstGeom prst="roundRect">
            <a:avLst>
              <a:gd name="adj" fmla="val 4000"/>
            </a:avLst>
          </a:prstGeom>
          <a:solidFill>
            <a:srgbClr val="EAF7EE"/>
          </a:solidFill>
          <a:ln w="8255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39" y="6940296"/>
            <a:ext cx="9784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800" b="1">
                <a:solidFill>
                  <a:srgbClr val="5B636E"/>
                </a:solidFill>
                <a:latin typeface="Aptos"/>
              </a:rPr>
              <a:t>Key contributions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39" y="7315200"/>
            <a:ext cx="9784080" cy="1051560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328"/>
                </a:solidFill>
                <a:latin typeface="Aptos"/>
              </a:defRPr>
            </a:pPr>
            <a:r>
              <a:t>Selective verdict contract: VALID / INVALID / UNIDENTIFIABLE.</a:t>
            </a:r>
          </a:p>
          <a:p>
            <a:pPr>
              <a:spcAft>
                <a:spcPts val="400"/>
              </a:spcAft>
              <a:defRPr sz="1400">
                <a:solidFill>
                  <a:srgbClr val="1F2328"/>
                </a:solidFill>
                <a:latin typeface="Aptos"/>
              </a:defRPr>
            </a:pPr>
            <a:r>
              <a:t>Countermodel-grounded verifier with evaluator-only gold labels.</a:t>
            </a:r>
          </a:p>
          <a:p>
            <a:pPr>
              <a:spcAft>
                <a:spcPts val="400"/>
              </a:spcAft>
              <a:defRPr sz="1400">
                <a:solidFill>
                  <a:srgbClr val="1F2328"/>
                </a:solidFill>
                <a:latin typeface="Aptos"/>
              </a:defRPr>
            </a:pPr>
            <a:r>
              <a:t>Frozen evidence package: main tradeoff, API baselines, OOD buckets, and ablations.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9848" y="8732520"/>
            <a:ext cx="10113264" cy="2148840"/>
          </a:xfrm>
          <a:prstGeom prst="roundRect">
            <a:avLst>
              <a:gd name="adj" fmla="val 4000"/>
            </a:avLst>
          </a:prstGeom>
          <a:solidFill>
            <a:srgbClr val="EAF2FF"/>
          </a:solidFill>
          <a:ln w="8255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39" y="8860536"/>
            <a:ext cx="9784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800" b="1">
                <a:solidFill>
                  <a:srgbClr val="5B636E"/>
                </a:solidFill>
                <a:latin typeface="Aptos"/>
              </a:rPr>
              <a:t>Task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39" y="9235440"/>
            <a:ext cx="9784080" cy="1554480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328"/>
                </a:solidFill>
                <a:latin typeface="Aptos"/>
              </a:defRPr>
            </a:pPr>
            <a:r>
              <a:t>Input: public scenario + causal claim only.</a:t>
            </a:r>
          </a:p>
          <a:p>
            <a:pPr>
              <a:spcAft>
                <a:spcPts val="400"/>
              </a:spcAft>
              <a:defRPr sz="1400">
                <a:solidFill>
                  <a:srgbClr val="1F2328"/>
                </a:solidFill>
                <a:latin typeface="Aptos"/>
              </a:defRPr>
            </a:pPr>
            <a:r>
              <a:t>Hidden: SCM, labels, and hidden variables.</a:t>
            </a:r>
          </a:p>
          <a:p>
            <a:pPr>
              <a:spcAft>
                <a:spcPts val="400"/>
              </a:spcAft>
              <a:defRPr sz="1400">
                <a:solidFill>
                  <a:srgbClr val="1F2328"/>
                </a:solidFill>
                <a:latin typeface="Aptos"/>
              </a:defRPr>
            </a:pPr>
            <a:r>
              <a:t>Risk metric: unsafe acceptance plus wise refusal.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" y="11667744"/>
            <a:ext cx="10652760" cy="63367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9264" y="11868912"/>
            <a:ext cx="10305288" cy="557784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solidFill>
              <a:srgbClr val="EA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4712" y="11914632"/>
            <a:ext cx="9994392" cy="402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2500" b="1">
                <a:solidFill>
                  <a:srgbClr val="163B6C"/>
                </a:solidFill>
                <a:latin typeface="Aptos"/>
              </a:rPr>
              <a:t>2. Method 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12454128"/>
            <a:ext cx="10076688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600" b="0">
                <a:solidFill>
                  <a:srgbClr val="1F2328"/>
                </a:solidFill>
                <a:latin typeface="Aptos"/>
              </a:rPr>
              <a:t>The verifier turns a claim into an assumption ledger, searches for public-compatible counter-SCM witnesses, and uses Pearl-style tools as supporting evidence before issuing a selective verdict.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7280" y="13716000"/>
            <a:ext cx="2743200" cy="960120"/>
          </a:xfrm>
          <a:prstGeom prst="rect">
            <a:avLst/>
          </a:prstGeom>
          <a:solidFill>
            <a:srgbClr val="FAFCFF"/>
          </a:solidFill>
          <a:ln w="13970">
            <a:solidFill>
              <a:srgbClr val="B779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2328"/>
                </a:solidFill>
                <a:latin typeface="Aptos"/>
              </a:rPr>
              <a:t>Claim
+ scenario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50208" y="14081760"/>
            <a:ext cx="25603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145388"/>
                </a:solidFill>
                <a:latin typeface="Aptos"/>
              </a:rPr>
              <a:t>-&gt;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13716000"/>
            <a:ext cx="2743200" cy="960120"/>
          </a:xfrm>
          <a:prstGeom prst="rect">
            <a:avLst/>
          </a:prstGeom>
          <a:solidFill>
            <a:srgbClr val="FAFCFF"/>
          </a:solidFill>
          <a:ln w="13970">
            <a:solidFill>
              <a:srgbClr val="16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2328"/>
                </a:solidFill>
                <a:latin typeface="Aptos"/>
              </a:rPr>
              <a:t>Parser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96328" y="14081760"/>
            <a:ext cx="25603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145388"/>
                </a:solidFill>
                <a:latin typeface="Aptos"/>
              </a:rPr>
              <a:t>-&gt;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89519" y="13716000"/>
            <a:ext cx="2743200" cy="960120"/>
          </a:xfrm>
          <a:prstGeom prst="rect">
            <a:avLst/>
          </a:prstGeom>
          <a:solidFill>
            <a:srgbClr val="FAFCFF"/>
          </a:solidFill>
          <a:ln w="13970">
            <a:solidFill>
              <a:srgbClr val="16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2328"/>
                </a:solidFill>
                <a:latin typeface="Aptos"/>
              </a:rPr>
              <a:t>Assumption
ledger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7280" y="15133320"/>
            <a:ext cx="2743200" cy="960120"/>
          </a:xfrm>
          <a:prstGeom prst="rect">
            <a:avLst/>
          </a:prstGeom>
          <a:solidFill>
            <a:srgbClr val="FAFCFF"/>
          </a:solidFill>
          <a:ln w="13970">
            <a:solidFill>
              <a:srgbClr val="16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2328"/>
                </a:solidFill>
                <a:latin typeface="Aptos"/>
              </a:rPr>
              <a:t>Countermodel
search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50208" y="15499080"/>
            <a:ext cx="25603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145388"/>
                </a:solidFill>
                <a:latin typeface="Aptos"/>
              </a:rPr>
              <a:t>-&gt;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0" y="15133320"/>
            <a:ext cx="2743200" cy="960120"/>
          </a:xfrm>
          <a:prstGeom prst="rect">
            <a:avLst/>
          </a:prstGeom>
          <a:solidFill>
            <a:srgbClr val="FAFCFF"/>
          </a:solidFill>
          <a:ln w="13970">
            <a:solidFill>
              <a:srgbClr val="16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2328"/>
                </a:solidFill>
                <a:latin typeface="Aptos"/>
              </a:rPr>
              <a:t>Tool-backed
adjudication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15499080"/>
            <a:ext cx="25603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145388"/>
                </a:solidFill>
                <a:latin typeface="Aptos"/>
              </a:rPr>
              <a:t>-&gt;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89519" y="15133320"/>
            <a:ext cx="2743200" cy="960120"/>
          </a:xfrm>
          <a:prstGeom prst="rect">
            <a:avLst/>
          </a:prstGeom>
          <a:solidFill>
            <a:srgbClr val="FAFCFF"/>
          </a:solidFill>
          <a:ln w="13970">
            <a:solidFill>
              <a:srgbClr val="128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2328"/>
                </a:solidFill>
                <a:latin typeface="Aptos"/>
              </a:rPr>
              <a:t>Verdict
+ witness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" y="16779240"/>
            <a:ext cx="1007668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300" b="0">
                <a:solidFill>
                  <a:srgbClr val="5B636E"/>
                </a:solidFill>
                <a:latin typeface="Aptos"/>
              </a:rPr>
              <a:t>Counter-SCM witnesses are diagnostic certificates, not leaked gold evidence.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8" y="18324576"/>
            <a:ext cx="10652760" cy="6620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18525744"/>
            <a:ext cx="10305288" cy="557784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solidFill>
              <a:srgbClr val="EA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4712" y="18571464"/>
            <a:ext cx="9994392" cy="402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2500" b="1">
                <a:solidFill>
                  <a:srgbClr val="163B6C"/>
                </a:solidFill>
                <a:latin typeface="Aptos"/>
              </a:rPr>
              <a:t>3. Setup / Data / Tasks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69848" y="19238976"/>
            <a:ext cx="10113264" cy="2788920"/>
          </a:xfrm>
          <a:prstGeom prst="roundRect">
            <a:avLst>
              <a:gd name="adj" fmla="val 4000"/>
            </a:avLst>
          </a:prstGeom>
          <a:solidFill>
            <a:srgbClr val="FFF8E6"/>
          </a:solidFill>
          <a:ln w="8255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34439" y="19366992"/>
            <a:ext cx="9784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800" b="1">
                <a:solidFill>
                  <a:srgbClr val="5B636E"/>
                </a:solidFill>
                <a:latin typeface="Aptos"/>
              </a:rPr>
              <a:t>Frozen experiment snapshot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39" y="19741896"/>
            <a:ext cx="9784080" cy="2194560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F2328"/>
                </a:solidFill>
                <a:latin typeface="Aptos"/>
              </a:defRPr>
            </a:pPr>
            <a:r>
              <a:t>Synthetic benchmark families with train/dev/test_iid/test_ood splits.</a:t>
            </a:r>
          </a:p>
          <a:p>
            <a:pPr>
              <a:spcAft>
                <a:spcPts val="400"/>
              </a:spcAft>
              <a:defRPr sz="1500">
                <a:solidFill>
                  <a:srgbClr val="1F2328"/>
                </a:solidFill>
                <a:latin typeface="Aptos"/>
              </a:defRPr>
            </a:pPr>
            <a:r>
              <a:t>Three seeds; 10 cases per family; difficulty 0.55.</a:t>
            </a:r>
          </a:p>
          <a:p>
            <a:pPr>
              <a:spcAft>
                <a:spcPts val="400"/>
              </a:spcAft>
              <a:defRPr sz="1500">
                <a:solidFill>
                  <a:srgbClr val="1F2328"/>
                </a:solidFill>
                <a:latin typeface="Aptos"/>
              </a:defRPr>
            </a:pPr>
            <a:r>
              <a:t>API baseline matrix: 5 models, 1245 predictions.</a:t>
            </a:r>
          </a:p>
          <a:p>
            <a:pPr>
              <a:spcAft>
                <a:spcPts val="400"/>
              </a:spcAft>
              <a:defRPr sz="1500">
                <a:solidFill>
                  <a:srgbClr val="1F2328"/>
                </a:solidFill>
                <a:latin typeface="Aptos"/>
              </a:defRPr>
            </a:pPr>
            <a:r>
              <a:t>All poster numbers are generated from frozen JSON artifacts.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69848" y="22311360"/>
            <a:ext cx="10113264" cy="2148840"/>
          </a:xfrm>
          <a:prstGeom prst="roundRect">
            <a:avLst>
              <a:gd name="adj" fmla="val 4000"/>
            </a:avLst>
          </a:prstGeom>
          <a:solidFill>
            <a:srgbClr val="EAF2FF"/>
          </a:solidFill>
          <a:ln w="8255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4439" y="22439376"/>
            <a:ext cx="9784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800" b="1">
                <a:solidFill>
                  <a:srgbClr val="5B636E"/>
                </a:solidFill>
                <a:latin typeface="Aptos"/>
              </a:rPr>
              <a:t>Validity boundary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34439" y="22814280"/>
            <a:ext cx="9784080" cy="1554480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F2328"/>
                </a:solidFill>
                <a:latin typeface="Aptos"/>
              </a:defRPr>
            </a:pPr>
            <a:r>
              <a:t>Prompt-protocol-specific API baselines, not universal LLM claims.</a:t>
            </a:r>
          </a:p>
          <a:p>
            <a:pPr>
              <a:spcAft>
                <a:spcPts val="400"/>
              </a:spcAft>
              <a:defRPr sz="1500">
                <a:solidFill>
                  <a:srgbClr val="1F2328"/>
                </a:solidFill>
                <a:latin typeface="Aptos"/>
              </a:defRPr>
            </a:pPr>
            <a:r>
              <a:t>Graph/mechanism OOD buckets are saturated smoke tests.</a:t>
            </a:r>
          </a:p>
          <a:p>
            <a:pPr>
              <a:spcAft>
                <a:spcPts val="400"/>
              </a:spcAft>
              <a:defRPr sz="1500">
                <a:solidFill>
                  <a:srgbClr val="1F2328"/>
                </a:solidFill>
                <a:latin typeface="Aptos"/>
              </a:defRPr>
            </a:pPr>
            <a:r>
              <a:t>Release requires larger synthetic runs and real-grounded dual audit.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951208" y="3995928"/>
            <a:ext cx="10652760" cy="214061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2124944" y="4197096"/>
            <a:ext cx="10305288" cy="557784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solidFill>
              <a:srgbClr val="EA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280392" y="4242816"/>
            <a:ext cx="9994392" cy="402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2500" b="1">
                <a:solidFill>
                  <a:srgbClr val="163B6C"/>
                </a:solidFill>
                <a:latin typeface="Aptos"/>
              </a:rPr>
              <a:t>4. Main Technical Details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43816" y="4791456"/>
            <a:ext cx="10076688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600" b="0">
                <a:solidFill>
                  <a:srgbClr val="1F2328"/>
                </a:solidFill>
                <a:latin typeface="Aptos"/>
              </a:rPr>
              <a:t>The technical object is selective causal verification: accept identifiable valid/invalid claims, but refuse when public evidence admits multiple compatible causal worlds.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225528" y="5961888"/>
            <a:ext cx="10113264" cy="1783080"/>
          </a:xfrm>
          <a:prstGeom prst="roundRect">
            <a:avLst>
              <a:gd name="adj" fmla="val 4000"/>
            </a:avLst>
          </a:prstGeom>
          <a:solidFill>
            <a:srgbClr val="EAF2FF"/>
          </a:solidFill>
          <a:ln w="1016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454128" y="6245352"/>
            <a:ext cx="96469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2060B4"/>
                </a:solidFill>
                <a:latin typeface="Aptos"/>
              </a:rPr>
              <a:t>Selective target: maximize OOD accuracy while minimizing unsafe acceptance and over-refusal.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481560" y="6812280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5B636E"/>
                </a:solidFill>
                <a:latin typeface="Aptos"/>
              </a:rPr>
              <a:t>Key mechanism: public-compatible countermodels witness missing identification assumptions.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2225528" y="8001000"/>
            <a:ext cx="10113264" cy="2743200"/>
          </a:xfrm>
          <a:prstGeom prst="roundRect">
            <a:avLst>
              <a:gd name="adj" fmla="val 4000"/>
            </a:avLst>
          </a:prstGeom>
          <a:solidFill>
            <a:srgbClr val="EAF7EE"/>
          </a:solidFill>
          <a:ln w="8255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390119" y="8129016"/>
            <a:ext cx="9784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800" b="1">
                <a:solidFill>
                  <a:srgbClr val="5B636E"/>
                </a:solidFill>
                <a:latin typeface="Aptos"/>
              </a:rPr>
              <a:t>Interpretation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390119" y="8503920"/>
            <a:ext cx="9784080" cy="2148840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328"/>
                </a:solidFill>
                <a:latin typeface="Aptos"/>
              </a:defRPr>
            </a:pPr>
            <a:r>
              <a:t>A countermodel witness supports UNIDENTIFIABLE rather than forcing binary validity.</a:t>
            </a:r>
          </a:p>
          <a:p>
            <a:pPr>
              <a:spcAft>
                <a:spcPts val="400"/>
              </a:spcAft>
              <a:defRPr sz="1400">
                <a:solidFill>
                  <a:srgbClr val="1F2328"/>
                </a:solidFill>
                <a:latin typeface="Aptos"/>
              </a:defRPr>
            </a:pPr>
            <a:r>
              <a:t>Pearl-style tools constrain the verifier but do not expose evaluator-only labels.</a:t>
            </a:r>
          </a:p>
          <a:p>
            <a:pPr>
              <a:spcAft>
                <a:spcPts val="400"/>
              </a:spcAft>
              <a:defRPr sz="1400">
                <a:solidFill>
                  <a:srgbClr val="1F2328"/>
                </a:solidFill>
                <a:latin typeface="Aptos"/>
              </a:defRPr>
            </a:pPr>
            <a:r>
              <a:t>The design targets unsafe acceptance without collapsing into blanket refusal.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225528" y="11018520"/>
            <a:ext cx="10113264" cy="4709160"/>
          </a:xfrm>
          <a:prstGeom prst="rect">
            <a:avLst/>
          </a:prstGeom>
          <a:solidFill>
            <a:srgbClr val="FFFFFF"/>
          </a:solidFill>
          <a:ln w="1016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ood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3020" y="11201400"/>
            <a:ext cx="9098280" cy="4549140"/>
          </a:xfrm>
          <a:prstGeom prst="rect">
            <a:avLst/>
          </a:prstGeom>
        </p:spPr>
      </p:pic>
      <p:sp>
        <p:nvSpPr>
          <p:cNvPr id="57" name="Rounded Rectangle 56"/>
          <p:cNvSpPr/>
          <p:nvPr/>
        </p:nvSpPr>
        <p:spPr>
          <a:xfrm>
            <a:off x="12225528" y="16139159"/>
            <a:ext cx="10113264" cy="2194560"/>
          </a:xfrm>
          <a:prstGeom prst="roundRect">
            <a:avLst>
              <a:gd name="adj" fmla="val 4000"/>
            </a:avLst>
          </a:prstGeom>
          <a:solidFill>
            <a:srgbClr val="FFF8E6"/>
          </a:solidFill>
          <a:ln w="8255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390119" y="16267176"/>
            <a:ext cx="9784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800" b="1">
                <a:solidFill>
                  <a:srgbClr val="5B636E"/>
                </a:solidFill>
                <a:latin typeface="Aptos"/>
              </a:rPr>
              <a:t>OOD stress reading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90119" y="16642080"/>
            <a:ext cx="9784080" cy="1600200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F2328"/>
                </a:solidFill>
                <a:latin typeface="Aptos"/>
              </a:defRPr>
            </a:pPr>
            <a:r>
              <a:t>Paired-flip is the clearest current failure slice: acc 0.439.</a:t>
            </a:r>
          </a:p>
          <a:p>
            <a:pPr>
              <a:spcAft>
                <a:spcPts val="400"/>
              </a:spcAft>
              <a:defRPr sz="1500">
                <a:solidFill>
                  <a:srgbClr val="1F2328"/>
                </a:solidFill>
                <a:latin typeface="Aptos"/>
              </a:defRPr>
            </a:pPr>
            <a:r>
              <a:t>Graph/mechanism buckets are saturated smoke tests.</a:t>
            </a:r>
          </a:p>
          <a:p>
            <a:pPr>
              <a:spcAft>
                <a:spcPts val="400"/>
              </a:spcAft>
              <a:defRPr sz="1500">
                <a:solidFill>
                  <a:srgbClr val="1F2328"/>
                </a:solidFill>
                <a:latin typeface="Aptos"/>
              </a:defRPr>
            </a:pPr>
            <a:r>
              <a:t>Use these buckets as diagnostics, not final robustness proof.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225528" y="18790920"/>
            <a:ext cx="10113264" cy="5166360"/>
          </a:xfrm>
          <a:prstGeom prst="rect">
            <a:avLst/>
          </a:prstGeom>
          <a:solidFill>
            <a:srgbClr val="FFFFFF"/>
          </a:solidFill>
          <a:ln w="1016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blation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87300" y="18973800"/>
            <a:ext cx="9189720" cy="4529219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527280" y="24094440"/>
            <a:ext cx="95097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B636E"/>
                </a:solidFill>
                <a:latin typeface="Aptos"/>
              </a:rPr>
              <a:t>Ablation uses four frozen component variants; bubble size encodes OOD accuracy.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116032" y="3995928"/>
            <a:ext cx="10652760" cy="88879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3289768" y="4197096"/>
            <a:ext cx="10305288" cy="557784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solidFill>
              <a:srgbClr val="EA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445216" y="4242816"/>
            <a:ext cx="9994392" cy="402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2500" b="1">
                <a:solidFill>
                  <a:srgbClr val="163B6C"/>
                </a:solidFill>
                <a:latin typeface="Aptos"/>
              </a:rPr>
              <a:t>5. Main Results / Examples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3399496" y="4791456"/>
            <a:ext cx="10076688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600" b="0">
                <a:solidFill>
                  <a:srgbClr val="1F2328"/>
                </a:solidFill>
                <a:latin typeface="Aptos"/>
              </a:rPr>
              <a:t>The strongest quantitative evidence is the selective OOD tradeoff, followed by bucket-level stress tests and component ablations.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3381208" y="5623560"/>
            <a:ext cx="10113264" cy="4663440"/>
          </a:xfrm>
          <a:prstGeom prst="rect">
            <a:avLst/>
          </a:prstGeom>
          <a:solidFill>
            <a:srgbClr val="FFFFFF"/>
          </a:solidFill>
          <a:ln w="1016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main_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80140" y="5806440"/>
            <a:ext cx="8915400" cy="4839789"/>
          </a:xfrm>
          <a:prstGeom prst="rect">
            <a:avLst/>
          </a:prstGeom>
        </p:spPr>
      </p:pic>
      <p:sp>
        <p:nvSpPr>
          <p:cNvPr id="69" name="Rounded Rectangle 68"/>
          <p:cNvSpPr/>
          <p:nvPr/>
        </p:nvSpPr>
        <p:spPr>
          <a:xfrm>
            <a:off x="23381208" y="10561320"/>
            <a:ext cx="10113264" cy="1965960"/>
          </a:xfrm>
          <a:prstGeom prst="roundRect">
            <a:avLst>
              <a:gd name="adj" fmla="val 4000"/>
            </a:avLst>
          </a:prstGeom>
          <a:solidFill>
            <a:srgbClr val="FFF8E6"/>
          </a:solidFill>
          <a:ln w="8255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3545800" y="10689336"/>
            <a:ext cx="9784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800" b="1">
                <a:solidFill>
                  <a:srgbClr val="5B636E"/>
                </a:solidFill>
                <a:latin typeface="Aptos"/>
              </a:rPr>
              <a:t>Result caption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545800" y="11064240"/>
            <a:ext cx="9784080" cy="1371600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328"/>
                </a:solidFill>
                <a:latin typeface="Aptos"/>
              </a:defRPr>
            </a:pPr>
            <a:r>
              <a:t>Ours: OOD acc 0.891, unsafe accept 0.000.</a:t>
            </a:r>
          </a:p>
          <a:p>
            <a:pPr>
              <a:spcAft>
                <a:spcPts val="400"/>
              </a:spcAft>
              <a:defRPr sz="1400">
                <a:solidFill>
                  <a:srgbClr val="1F2328"/>
                </a:solidFill>
                <a:latin typeface="Aptos"/>
              </a:defRPr>
            </a:pPr>
            <a:r>
              <a:t>GPT-5.5 prompt baseline: OOD acc 0.545, unsafe accept 0.071.</a:t>
            </a:r>
          </a:p>
          <a:p>
            <a:pPr>
              <a:spcAft>
                <a:spcPts val="400"/>
              </a:spcAft>
              <a:defRPr sz="1400">
                <a:solidFill>
                  <a:srgbClr val="1F2328"/>
                </a:solidFill>
                <a:latin typeface="Aptos"/>
              </a:defRPr>
            </a:pPr>
            <a:r>
              <a:t>The evidence supports a prototype diagnostic claim, not a final benchmark release.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3116032" y="13322808"/>
            <a:ext cx="10652760" cy="1200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3289768" y="13523976"/>
            <a:ext cx="10305288" cy="557784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solidFill>
              <a:srgbClr val="EA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445216" y="13569696"/>
            <a:ext cx="9994392" cy="402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2500" b="1">
                <a:solidFill>
                  <a:srgbClr val="163B6C"/>
                </a:solidFill>
                <a:latin typeface="Aptos"/>
              </a:rPr>
              <a:t>Examples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3399496" y="14374368"/>
            <a:ext cx="4965192" cy="5806440"/>
          </a:xfrm>
          <a:prstGeom prst="roundRect">
            <a:avLst>
              <a:gd name="adj" fmla="val 4000"/>
            </a:avLst>
          </a:prstGeom>
          <a:solidFill>
            <a:srgbClr val="EAF2FF"/>
          </a:solidFill>
          <a:ln w="1016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545800" y="14520672"/>
            <a:ext cx="4654296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500" b="1">
                <a:solidFill>
                  <a:srgbClr val="5B636E"/>
                </a:solidFill>
                <a:latin typeface="Aptos"/>
              </a:rPr>
              <a:t>Example A: unidentifiable claim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545800" y="15041880"/>
            <a:ext cx="4617720" cy="4480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300" b="0">
                <a:solidFill>
                  <a:srgbClr val="1F2328"/>
                </a:solidFill>
                <a:latin typeface="Aptos"/>
              </a:rPr>
              <a:t>Claim: association between therapy_flag and yield_score is treated as causal.
Gold label: UNIDENTIFIABLE.
Reason: public evidence leaves confounding or reverse causality open.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8529280" y="14374368"/>
            <a:ext cx="4965192" cy="5806440"/>
          </a:xfrm>
          <a:prstGeom prst="roundRect">
            <a:avLst>
              <a:gd name="adj" fmla="val 4000"/>
            </a:avLst>
          </a:prstGeom>
          <a:solidFill>
            <a:srgbClr val="EAF7EE"/>
          </a:solidFill>
          <a:ln w="1016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8684728" y="14520672"/>
            <a:ext cx="4654296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500" b="1">
                <a:solidFill>
                  <a:srgbClr val="5B636E"/>
                </a:solidFill>
                <a:latin typeface="Aptos"/>
              </a:rPr>
              <a:t>Example B: verifier response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684728" y="15041880"/>
            <a:ext cx="4617720" cy="4480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300" b="0">
                <a:solidFill>
                  <a:srgbClr val="1F2328"/>
                </a:solidFill>
                <a:latin typeface="Aptos"/>
              </a:rPr>
              <a:t>Output: refuse the causal conclusion.
Witness: construct a public-compatible counter-SCM.
Takeaway: refusal is evidence-sensitive, not blanket abstention.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3381208" y="20619720"/>
            <a:ext cx="10113264" cy="2880360"/>
          </a:xfrm>
          <a:prstGeom prst="roundRect">
            <a:avLst>
              <a:gd name="adj" fmla="val 4000"/>
            </a:avLst>
          </a:prstGeom>
          <a:solidFill>
            <a:srgbClr val="FFF8E6"/>
          </a:solidFill>
          <a:ln w="8255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3545800" y="20747736"/>
            <a:ext cx="9784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sz="1800" b="1">
                <a:solidFill>
                  <a:srgbClr val="5B636E"/>
                </a:solidFill>
                <a:latin typeface="Aptos"/>
              </a:rPr>
              <a:t>Validity gates before release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545800" y="21122640"/>
            <a:ext cx="9784080" cy="2286000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328"/>
                </a:solidFill>
                <a:latin typeface="Aptos"/>
              </a:defRPr>
            </a:pPr>
            <a:r>
              <a:t>Leakage check: oracle-positive 1.000/1.000; gain is contamination.</a:t>
            </a:r>
          </a:p>
          <a:p>
            <a:pPr>
              <a:spcAft>
                <a:spcPts val="400"/>
              </a:spcAft>
              <a:defRPr sz="1400">
                <a:solidFill>
                  <a:srgbClr val="1F2328"/>
                </a:solidFill>
                <a:latin typeface="Aptos"/>
              </a:defRPr>
            </a:pPr>
            <a:r>
              <a:t>API baselines: 5 models, 1245 predictions; best OOD GPT-5.5 acc 0.545, unsafe 0.071.</a:t>
            </a:r>
          </a:p>
          <a:p>
            <a:pPr>
              <a:spcAft>
                <a:spcPts val="400"/>
              </a:spcAft>
              <a:defRPr sz="1400">
                <a:solidFill>
                  <a:srgbClr val="1F2328"/>
                </a:solidFill>
                <a:latin typeface="Aptos"/>
              </a:defRPr>
            </a:pPr>
            <a:r>
              <a:t>Next gates: larger synthetic runs, real-grounded dual audit, frozen model versions.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3408640" y="24185880"/>
            <a:ext cx="99669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5B636E"/>
                </a:solidFill>
                <a:latin typeface="Aptos"/>
              </a:rPr>
              <a:t>Frozen artifact manifest: outputs/paper_facing/manifest.json | full_llm_baseline_matrix_completed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