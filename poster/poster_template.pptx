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4559875" cy="25920700"/>
  <p:notesSz cx="32918400" cy="4389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3A69"/>
    <a:srgbClr val="182A58"/>
    <a:srgbClr val="163B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97"/>
    <p:restoredTop sz="94610"/>
  </p:normalViewPr>
  <p:slideViewPr>
    <p:cSldViewPr snapToGrid="0" snapToObjects="1">
      <p:cViewPr>
        <p:scale>
          <a:sx n="38" d="100"/>
          <a:sy n="38" d="100"/>
        </p:scale>
        <p:origin x="73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0895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ICML official poster instructions list suggested main-conference poster sizes of 36 x 48, 36 x 60, and 36 x 72 inches; this template uses 36 x 48 inches as a practical default. https://icml.cc/Conferences/2025/PosterInstructions
- ICML 2026 downloads page states the ICML logo may be used on presentations, but this template intentionally avoids embedding official branding so the user can add it selectively. https://icml.cc/Downloads/2026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34560000" cy="25920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34560000" cy="828000"/>
          </a:xfrm>
          <a:prstGeom prst="rect">
            <a:avLst/>
          </a:prstGeom>
          <a:solidFill>
            <a:srgbClr val="163B6C"/>
          </a:solidFill>
          <a:ln w="12700">
            <a:solidFill>
              <a:srgbClr val="163B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0" y="25452000"/>
            <a:ext cx="34560000" cy="468000"/>
          </a:xfrm>
          <a:prstGeom prst="rect">
            <a:avLst/>
          </a:prstGeom>
          <a:solidFill>
            <a:srgbClr val="163B6C"/>
          </a:solidFill>
          <a:ln w="12700">
            <a:solidFill>
              <a:srgbClr val="163B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792000" y="828000"/>
            <a:ext cx="32976000" cy="28080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5240">
            <a:solidFill>
              <a:srgbClr val="D5DDE8"/>
            </a:solidFill>
            <a:prstDash val="solid"/>
          </a:ln>
          <a:effectLst>
            <a:outerShdw blurRad="12700" dist="50800" dir="2700000" algn="bl" rotWithShape="0">
              <a:srgbClr val="AAB4C8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1188000" y="1116000"/>
            <a:ext cx="25632000" cy="82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sz="3400" b="1"/>
              <a:t>Selective Adversarial Causal Oversight: A Leakage-Free Benchmark and Countermodel-Grounded Verifier under Information Asymmetry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1238400" y="2016000"/>
            <a:ext cx="1764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sz="2300"/>
              <a:t>Authors anonymized for course submission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1238400" y="2487724"/>
            <a:ext cx="20520000" cy="31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sz="1800"/>
              <a:t>Course project - Causal Reasoning - Spring-Summer 2026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238400" y="2838786"/>
            <a:ext cx="14400000" cy="24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792000" y="3996000"/>
            <a:ext cx="10656000" cy="7344000"/>
          </a:xfrm>
          <a:prstGeom prst="roundRect">
            <a:avLst>
              <a:gd name="adj" fmla="val 784"/>
            </a:avLst>
          </a:prstGeom>
          <a:solidFill>
            <a:srgbClr val="FFFFFF"/>
          </a:solidFill>
          <a:ln w="13970">
            <a:solidFill>
              <a:srgbClr val="D5DDE8"/>
            </a:solidFill>
            <a:prstDash val="solid"/>
          </a:ln>
          <a:effectLst>
            <a:outerShdw blurRad="12700" dist="50800" dir="2700000" algn="bl" rotWithShape="0">
              <a:srgbClr val="AAB4C8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972000" y="4197600"/>
            <a:ext cx="10296000" cy="561600"/>
          </a:xfrm>
          <a:prstGeom prst="roundRect">
            <a:avLst>
              <a:gd name="adj" fmla="val 6410"/>
            </a:avLst>
          </a:prstGeom>
          <a:solidFill>
            <a:srgbClr val="EAF2FF"/>
          </a:solidFill>
          <a:ln w="635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1137600" y="4233600"/>
            <a:ext cx="9964800" cy="39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Motivation &amp; Abstract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1080000" y="4788000"/>
            <a:ext cx="10080000" cy="1836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300"/>
              </a:spcAft>
              <a:buNone/>
            </a:pPr>
            <a:r>
              <a:rPr sz="2000"/>
              <a:t>LLMs are increasingly used to evaluate causal claims, but real causal oversight is selective and adversarial under information asymmetry: claimants hold private information, exploit non-identifiability, and present persuasive but incomplete reasoning. Existing causal benchmarks treat unidentifiability as a degraded label and let oracle metadata leak into the verifier. We formalize the task, release a leakage-free benchmark, and propose a countermodel-grounded selective verifier.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1065600" y="6732000"/>
            <a:ext cx="10108800" cy="1440000"/>
          </a:xfrm>
          <a:prstGeom prst="roundRect">
            <a:avLst>
              <a:gd name="adj" fmla="val 2000"/>
            </a:avLst>
          </a:prstGeom>
          <a:solidFill>
            <a:srgbClr val="EAF2FF">
              <a:alpha val="82000"/>
            </a:srgbClr>
          </a:solidFill>
          <a:ln w="11430">
            <a:solidFill>
              <a:srgbClr val="D5D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1224000" y="6847200"/>
            <a:ext cx="9792000" cy="25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sz="1600" b="1"/>
              <a:t>At a glance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1224000" y="7106400"/>
            <a:ext cx="9792000" cy="964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spAutoFit/>
          </a:bodyPr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sz="1800"/>
              <a:t>Hook: causal claim oversight is selective + adversarial under information asymmetry</a:t>
            </a:r>
            <a:endParaRPr lang="en-US" sz="2400" dirty="0"/>
          </a:p>
          <a:p>
            <a:pPr>
              <a:spcAft>
                <a:spcPts val="300"/>
              </a:spcAft>
            </a:pPr>
            <a:r>
              <a:rPr sz="1800"/>
              <a:t>Problem: unidentifiable is treated as a degraded label and oracle metadata leaks into verifiers</a:t>
            </a:r>
          </a:p>
          <a:p>
            <a:pPr>
              <a:spcAft>
                <a:spcPts val="300"/>
              </a:spcAft>
            </a:pPr>
            <a:r>
              <a:rPr sz="1800"/>
              <a:t>Method: leakage-free benchmark + four-stage countermodel-grounded selective verifier</a:t>
            </a:r>
          </a:p>
        </p:txBody>
      </p:sp>
      <p:sp>
        <p:nvSpPr>
          <p:cNvPr id="23" name="Shape 20"/>
          <p:cNvSpPr/>
          <p:nvPr/>
        </p:nvSpPr>
        <p:spPr>
          <a:xfrm>
            <a:off x="1065600" y="8366400"/>
            <a:ext cx="10108800" cy="2556000"/>
          </a:xfrm>
          <a:prstGeom prst="roundRect">
            <a:avLst>
              <a:gd name="adj" fmla="val 1127"/>
            </a:avLst>
          </a:prstGeom>
          <a:solidFill>
            <a:srgbClr val="EAF7EE">
              <a:alpha val="82000"/>
            </a:srgbClr>
          </a:solidFill>
          <a:ln w="11430">
            <a:solidFill>
              <a:srgbClr val="D5D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1"/>
          <p:cNvSpPr/>
          <p:nvPr/>
        </p:nvSpPr>
        <p:spPr>
          <a:xfrm>
            <a:off x="1224000" y="8481600"/>
            <a:ext cx="9792000" cy="25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contributions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1224000" y="8740800"/>
            <a:ext cx="9792000" cy="2080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spAutoFit/>
          </a:bodyPr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sz="1700"/>
              <a:t>C1 (Task) - Selective adversarial causal oversight: three-way verdict {valid / invalid / unidentifiable} with structured assumption ledger, refusal reason, and witness slots.</a:t>
            </a:r>
            <a:endParaRPr lang="en-US" sz="2400" dirty="0"/>
          </a:p>
          <a:p>
            <a:pPr>
              <a:spcAft>
                <a:spcPts val="300"/>
              </a:spcAft>
            </a:pPr>
            <a:r>
              <a:rPr sz="1700"/>
              <a:t>C2 (Benchmark) - Twelve graph families across Pearl L1/L2/L3, schema-level public/gold partition, five-axis persuasion overlay, OOD design space.</a:t>
            </a:r>
          </a:p>
          <a:p>
            <a:pPr>
              <a:spcAft>
                <a:spcPts val="300"/>
              </a:spcAft>
            </a:pPr>
            <a:r>
              <a:rPr sz="1700"/>
              <a:t>C3 (Verifier) - Four-stage pipeline (Parser -&gt; Ledger -&gt; Countermodel Search -&gt; Tool-backed Adjudication) with deterministic decision rule and abstention gate.</a:t>
            </a:r>
          </a:p>
        </p:txBody>
      </p:sp>
      <p:sp>
        <p:nvSpPr>
          <p:cNvPr id="26" name="Shape 23"/>
          <p:cNvSpPr/>
          <p:nvPr/>
        </p:nvSpPr>
        <p:spPr>
          <a:xfrm>
            <a:off x="792000" y="11664000"/>
            <a:ext cx="10656000" cy="633600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13970">
            <a:solidFill>
              <a:srgbClr val="D5DDE8"/>
            </a:solidFill>
            <a:prstDash val="solid"/>
          </a:ln>
          <a:effectLst>
            <a:outerShdw blurRad="12700" dist="50800" dir="2700000" algn="bl" rotWithShape="0">
              <a:srgbClr val="AAB4C8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4"/>
          <p:cNvSpPr/>
          <p:nvPr/>
        </p:nvSpPr>
        <p:spPr>
          <a:xfrm>
            <a:off x="972000" y="11865600"/>
            <a:ext cx="10296000" cy="561600"/>
          </a:xfrm>
          <a:prstGeom prst="roundRect">
            <a:avLst>
              <a:gd name="adj" fmla="val 6410"/>
            </a:avLst>
          </a:prstGeom>
          <a:solidFill>
            <a:srgbClr val="EAF2FF"/>
          </a:solidFill>
          <a:ln w="635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5"/>
          <p:cNvSpPr/>
          <p:nvPr/>
        </p:nvSpPr>
        <p:spPr>
          <a:xfrm>
            <a:off x="1137600" y="11901600"/>
            <a:ext cx="9964800" cy="39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Method Overview</a:t>
            </a:r>
            <a:endParaRPr lang="en-US" sz="3200" dirty="0"/>
          </a:p>
        </p:txBody>
      </p:sp>
      <p:sp>
        <p:nvSpPr>
          <p:cNvPr id="29" name="Text 26"/>
          <p:cNvSpPr/>
          <p:nvPr/>
        </p:nvSpPr>
        <p:spPr>
          <a:xfrm>
            <a:off x="1080000" y="12456000"/>
            <a:ext cx="10080000" cy="1044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300"/>
              </a:spcAft>
              <a:buNone/>
            </a:pPr>
            <a:r>
              <a:rPr sz="2000"/>
              <a:t>Four sequential stages turn a natural-language claim into a selective verdict. Stages 1-2 produce structured slots and an identifying-assumption ledger; Stage 3 searches for an observationally compatible counter-SCM that disagrees on the target query; Stage 4 consults Pearl-style identification tools only when no countermodel survives.</a:t>
            </a:r>
            <a:endParaRPr lang="en-US" sz="2400" dirty="0"/>
          </a:p>
        </p:txBody>
      </p:sp>
      <p:sp>
        <p:nvSpPr>
          <p:cNvPr id="30" name="Shape 27"/>
          <p:cNvSpPr/>
          <p:nvPr/>
        </p:nvSpPr>
        <p:spPr>
          <a:xfrm>
            <a:off x="1065600" y="13824000"/>
            <a:ext cx="10108800" cy="3528000"/>
          </a:xfrm>
          <a:prstGeom prst="roundRect">
            <a:avLst>
              <a:gd name="adj" fmla="val 684"/>
            </a:avLst>
          </a:prstGeom>
          <a:solidFill>
            <a:srgbClr val="FFFFFF"/>
          </a:solidFill>
          <a:ln w="1524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29"/>
          <p:cNvSpPr/>
          <p:nvPr/>
        </p:nvSpPr>
        <p:spPr>
          <a:xfrm>
            <a:off x="792000" y="18324000"/>
            <a:ext cx="10656000" cy="6624000"/>
          </a:xfrm>
          <a:prstGeom prst="roundRect">
            <a:avLst>
              <a:gd name="adj" fmla="val 870"/>
            </a:avLst>
          </a:prstGeom>
          <a:solidFill>
            <a:srgbClr val="FFFFFF"/>
          </a:solidFill>
          <a:ln w="13970">
            <a:solidFill>
              <a:srgbClr val="D5DDE8"/>
            </a:solidFill>
            <a:prstDash val="solid"/>
          </a:ln>
          <a:effectLst>
            <a:outerShdw blurRad="12700" dist="50800" dir="2700000" algn="bl" rotWithShape="0">
              <a:srgbClr val="AAB4C8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0"/>
          <p:cNvSpPr/>
          <p:nvPr/>
        </p:nvSpPr>
        <p:spPr>
          <a:xfrm>
            <a:off x="972000" y="18525600"/>
            <a:ext cx="10296000" cy="561600"/>
          </a:xfrm>
          <a:prstGeom prst="roundRect">
            <a:avLst>
              <a:gd name="adj" fmla="val 6410"/>
            </a:avLst>
          </a:prstGeom>
          <a:solidFill>
            <a:srgbClr val="EAF2FF"/>
          </a:solidFill>
          <a:ln w="635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1"/>
          <p:cNvSpPr/>
          <p:nvPr/>
        </p:nvSpPr>
        <p:spPr>
          <a:xfrm>
            <a:off x="1137600" y="18561600"/>
            <a:ext cx="9964800" cy="39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Setup / Data / Tasks</a:t>
            </a:r>
            <a:endParaRPr lang="en-US" sz="3200" dirty="0"/>
          </a:p>
        </p:txBody>
      </p:sp>
      <p:sp>
        <p:nvSpPr>
          <p:cNvPr id="35" name="Shape 32"/>
          <p:cNvSpPr/>
          <p:nvPr/>
        </p:nvSpPr>
        <p:spPr>
          <a:xfrm>
            <a:off x="1065600" y="19240632"/>
            <a:ext cx="10108800" cy="5148000"/>
          </a:xfrm>
          <a:prstGeom prst="roundRect">
            <a:avLst>
              <a:gd name="adj" fmla="val 559"/>
            </a:avLst>
          </a:prstGeom>
          <a:solidFill>
            <a:srgbClr val="FFF8E6">
              <a:alpha val="82000"/>
            </a:srgbClr>
          </a:solidFill>
          <a:ln w="11430">
            <a:solidFill>
              <a:srgbClr val="D5D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3"/>
          <p:cNvSpPr/>
          <p:nvPr/>
        </p:nvSpPr>
        <p:spPr>
          <a:xfrm>
            <a:off x="1224000" y="19355832"/>
            <a:ext cx="9792000" cy="25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sz="1600" b="1"/>
              <a:t>Setup at a glance</a:t>
            </a:r>
            <a:endParaRPr lang="en-US" sz="2800" dirty="0"/>
          </a:p>
        </p:txBody>
      </p:sp>
      <p:sp>
        <p:nvSpPr>
          <p:cNvPr id="37" name="Text 34"/>
          <p:cNvSpPr/>
          <p:nvPr/>
        </p:nvSpPr>
        <p:spPr>
          <a:xfrm>
            <a:off x="1224000" y="19615032"/>
            <a:ext cx="9792000" cy="4672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spAutoFit/>
          </a:bodyPr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sz="1800"/>
              <a:t>Dataset: 12 graph families (4 L1, 5 L2, 3 L3); literature-grounded subset reserved</a:t>
            </a:r>
            <a:endParaRPr lang="en-US" sz="2400" dirty="0"/>
          </a:p>
          <a:p>
            <a:pPr>
              <a:spcAft>
                <a:spcPts val="300"/>
              </a:spcAft>
            </a:pPr>
            <a:r>
              <a:rPr sz="1800"/>
              <a:t>Splits: train / dev / test_iid / test_ood with five orthogonal holdout axes</a:t>
            </a:r>
          </a:p>
          <a:p>
            <a:pPr>
              <a:spcAft>
                <a:spcPts val="300"/>
              </a:spcAft>
            </a:pPr>
            <a:r>
              <a:rPr sz="1800"/>
              <a:t>Task: three-way verdict + identification status + refusal reason + assumption ledger + 3 witness slots</a:t>
            </a:r>
          </a:p>
          <a:p>
            <a:pPr>
              <a:spcAft>
                <a:spcPts val="300"/>
              </a:spcAft>
            </a:pPr>
            <a:r>
              <a:rPr sz="1800"/>
              <a:t>Baselines: Countermodel-Grounded, No-Tools, No-Countermodel, No-Ledger, No-Abstention, Claim-Only</a:t>
            </a:r>
          </a:p>
          <a:p>
            <a:pPr>
              <a:spcAft>
                <a:spcPts val="300"/>
              </a:spcAft>
            </a:pPr>
            <a:r>
              <a:rPr sz="1800"/>
              <a:t>Budget: 3 seeds x 2 samples / family - exploratory</a:t>
            </a:r>
          </a:p>
        </p:txBody>
      </p:sp>
      <p:sp>
        <p:nvSpPr>
          <p:cNvPr id="38" name="Shape 35"/>
          <p:cNvSpPr/>
          <p:nvPr/>
        </p:nvSpPr>
        <p:spPr>
          <a:xfrm>
            <a:off x="11952000" y="3996000"/>
            <a:ext cx="10656000" cy="21405600"/>
          </a:xfrm>
          <a:prstGeom prst="roundRect">
            <a:avLst>
              <a:gd name="adj" fmla="val 571"/>
            </a:avLst>
          </a:prstGeom>
          <a:solidFill>
            <a:srgbClr val="FFFFFF"/>
          </a:solidFill>
          <a:ln w="13970">
            <a:solidFill>
              <a:srgbClr val="D5DDE8"/>
            </a:solidFill>
            <a:prstDash val="solid"/>
          </a:ln>
          <a:effectLst>
            <a:outerShdw blurRad="12700" dist="50800" dir="2700000" algn="bl" rotWithShape="0">
              <a:srgbClr val="AAB4C8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6"/>
          <p:cNvSpPr/>
          <p:nvPr/>
        </p:nvSpPr>
        <p:spPr>
          <a:xfrm>
            <a:off x="12132000" y="4197600"/>
            <a:ext cx="10296000" cy="561600"/>
          </a:xfrm>
          <a:prstGeom prst="roundRect">
            <a:avLst>
              <a:gd name="adj" fmla="val 6410"/>
            </a:avLst>
          </a:prstGeom>
          <a:solidFill>
            <a:srgbClr val="EAF2FF"/>
          </a:solidFill>
          <a:ln w="635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7"/>
          <p:cNvSpPr/>
          <p:nvPr/>
        </p:nvSpPr>
        <p:spPr>
          <a:xfrm>
            <a:off x="12297600" y="4233600"/>
            <a:ext cx="9964800" cy="39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Main Technical Details</a:t>
            </a:r>
            <a:endParaRPr lang="en-US" sz="3200" dirty="0"/>
          </a:p>
        </p:txBody>
      </p:sp>
      <p:sp>
        <p:nvSpPr>
          <p:cNvPr id="41" name="Text 38"/>
          <p:cNvSpPr/>
          <p:nvPr/>
        </p:nvSpPr>
        <p:spPr>
          <a:xfrm>
            <a:off x="12240000" y="4788000"/>
            <a:ext cx="10080000" cy="1008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300"/>
              </a:spcAft>
              <a:buNone/>
            </a:pPr>
            <a:r>
              <a:rPr sz="2000"/>
              <a:t>The third label is not cosmetic. Pearl hierarchy theorem: layer-k data underdetermines layer-(k+1) truth almost everywhere, so for many claims the correct answer under public evidence is to abstain with a structured reason.</a:t>
            </a:r>
            <a:endParaRPr lang="en-US" sz="2400" dirty="0"/>
          </a:p>
        </p:txBody>
      </p:sp>
      <p:sp>
        <p:nvSpPr>
          <p:cNvPr id="42" name="Shape 39"/>
          <p:cNvSpPr/>
          <p:nvPr/>
        </p:nvSpPr>
        <p:spPr>
          <a:xfrm>
            <a:off x="12225600" y="5965200"/>
            <a:ext cx="10108800" cy="1548000"/>
          </a:xfrm>
          <a:prstGeom prst="roundRect">
            <a:avLst>
              <a:gd name="adj" fmla="val 1860"/>
            </a:avLst>
          </a:prstGeom>
          <a:solidFill>
            <a:srgbClr val="EAF2FF">
              <a:alpha val="92000"/>
            </a:srgbClr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0"/>
          <p:cNvSpPr/>
          <p:nvPr/>
        </p:nvSpPr>
        <p:spPr>
          <a:xfrm>
            <a:off x="12455937" y="6394994"/>
            <a:ext cx="964800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spcAft>
                <a:spcPts val="300"/>
              </a:spcAft>
              <a:buNone/>
            </a:pPr>
            <a:r>
              <a:rPr sz="2000" b="1"/>
              <a:t>Proposition 1 (Abstention Necessity). If SCMs M1, M2 both induce public evidence E but disagree on target query q, then any verifier without an unidentifiable output is wrong on at least one of M1, M2.</a:t>
            </a:r>
            <a:endParaRPr lang="en-US" sz="2600" dirty="0"/>
          </a:p>
        </p:txBody>
      </p:sp>
      <p:sp>
        <p:nvSpPr>
          <p:cNvPr id="44" name="Shape 41"/>
          <p:cNvSpPr/>
          <p:nvPr/>
        </p:nvSpPr>
        <p:spPr>
          <a:xfrm>
            <a:off x="12225600" y="7670323"/>
            <a:ext cx="10108800" cy="2988000"/>
          </a:xfrm>
          <a:prstGeom prst="roundRect">
            <a:avLst>
              <a:gd name="adj" fmla="val 964"/>
            </a:avLst>
          </a:prstGeom>
          <a:solidFill>
            <a:srgbClr val="EAF7EE">
              <a:alpha val="82000"/>
            </a:srgbClr>
          </a:solidFill>
          <a:ln w="11430">
            <a:solidFill>
              <a:srgbClr val="D5D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2"/>
          <p:cNvSpPr/>
          <p:nvPr/>
        </p:nvSpPr>
        <p:spPr>
          <a:xfrm>
            <a:off x="12384000" y="7786685"/>
            <a:ext cx="9792000" cy="25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2800" dirty="0"/>
          </a:p>
        </p:txBody>
      </p:sp>
      <p:sp>
        <p:nvSpPr>
          <p:cNvPr id="46" name="Text 43"/>
          <p:cNvSpPr/>
          <p:nvPr/>
        </p:nvSpPr>
        <p:spPr>
          <a:xfrm>
            <a:off x="12384000" y="8048788"/>
            <a:ext cx="9792000" cy="2512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spAutoFit/>
          </a:bodyPr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sz="1800"/>
              <a:t>What it does: any yes/no-only verifier is provably wrong on observationally-equivalent samples</a:t>
            </a:r>
            <a:endParaRPr lang="en-US" sz="2400" dirty="0"/>
          </a:p>
          <a:p>
            <a:pPr>
              <a:spcAft>
                <a:spcPts val="300"/>
              </a:spcAft>
            </a:pPr>
            <a:r>
              <a:rPr sz="1800"/>
              <a:t>Why it is needed: Pearl hierarchy theorem shows layer-k data generically underdetermines layer-(k+1) truth</a:t>
            </a:r>
          </a:p>
          <a:p>
            <a:pPr>
              <a:spcAft>
                <a:spcPts val="300"/>
              </a:spcAft>
            </a:pPr>
            <a:r>
              <a:rPr sz="1800"/>
              <a:t>Design choice: unidentifiable is a first-class label with structured refusal reason</a:t>
            </a:r>
          </a:p>
        </p:txBody>
      </p:sp>
      <p:sp>
        <p:nvSpPr>
          <p:cNvPr id="47" name="Shape 44"/>
          <p:cNvSpPr/>
          <p:nvPr/>
        </p:nvSpPr>
        <p:spPr>
          <a:xfrm>
            <a:off x="12225600" y="10764000"/>
            <a:ext cx="10108800" cy="640080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1430">
            <a:solidFill>
              <a:srgbClr val="D5D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5"/>
          <p:cNvSpPr/>
          <p:nvPr/>
        </p:nvSpPr>
        <p:spPr>
          <a:xfrm>
            <a:off x="12528000" y="11592000"/>
            <a:ext cx="9504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>
              <a:spcAft>
                <a:spcPts val="300"/>
              </a:spcAft>
            </a:pPr>
            <a:r>
              <a:rPr sz="2400" b="1"/>
              <a:t>Decision rule (fixed five-branch order):</a:t>
            </a:r>
          </a:p>
          <a:p>
            <a:pPr>
              <a:spcAft>
                <a:spcPts val="300"/>
              </a:spcAft>
            </a:pPr>
            <a:r>
              <a:rPr sz="2400"/>
              <a:t>1. strong invalid countermodel -&gt; INVALID</a:t>
            </a:r>
          </a:p>
          <a:p>
            <a:pPr>
              <a:spcAft>
                <a:spcPts val="300"/>
              </a:spcAft>
            </a:pPr>
            <a:r>
              <a:rPr sz="2400"/>
              <a:t>2. compatible models, disagree on q -&gt; UNIDENTIFIABLE (observational_equivalence)</a:t>
            </a:r>
          </a:p>
          <a:p>
            <a:pPr>
              <a:spcAft>
                <a:spcPts val="300"/>
              </a:spcAft>
            </a:pPr>
            <a:r>
              <a:rPr sz="2400"/>
              <a:t>3a. assumption contradicted by tools -&gt; INVALID</a:t>
            </a:r>
          </a:p>
          <a:p>
            <a:pPr>
              <a:spcAft>
                <a:spcPts val="300"/>
              </a:spcAft>
            </a:pPr>
            <a:r>
              <a:rPr sz="2400"/>
              <a:t>3b. ID assumption unsupported -&gt; UNIDENTIFIABLE (missing_identifying_support)</a:t>
            </a:r>
          </a:p>
          <a:p>
            <a:pPr>
              <a:spcAft>
                <a:spcPts val="300"/>
              </a:spcAft>
            </a:pPr>
            <a:r>
              <a:rPr sz="2400"/>
              <a:t>4. tools + ledger jointly support -&gt; VALID</a:t>
            </a:r>
          </a:p>
        </p:txBody>
      </p:sp>
      <p:sp>
        <p:nvSpPr>
          <p:cNvPr id="64" name="Shape 61"/>
          <p:cNvSpPr/>
          <p:nvPr/>
        </p:nvSpPr>
        <p:spPr>
          <a:xfrm>
            <a:off x="23112000" y="3996000"/>
            <a:ext cx="10656000" cy="21405600"/>
          </a:xfrm>
          <a:prstGeom prst="roundRect">
            <a:avLst>
              <a:gd name="adj" fmla="val 637"/>
            </a:avLst>
          </a:prstGeom>
          <a:solidFill>
            <a:srgbClr val="FFFFFF"/>
          </a:solidFill>
          <a:ln w="13970">
            <a:solidFill>
              <a:srgbClr val="D5DDE8"/>
            </a:solidFill>
            <a:prstDash val="solid"/>
          </a:ln>
          <a:effectLst>
            <a:outerShdw blurRad="12700" dist="50800" dir="2700000" algn="bl" rotWithShape="0">
              <a:srgbClr val="AAB4C8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2"/>
          <p:cNvSpPr/>
          <p:nvPr/>
        </p:nvSpPr>
        <p:spPr>
          <a:xfrm>
            <a:off x="23292000" y="4197600"/>
            <a:ext cx="10296000" cy="561600"/>
          </a:xfrm>
          <a:prstGeom prst="roundRect">
            <a:avLst>
              <a:gd name="adj" fmla="val 6410"/>
            </a:avLst>
          </a:prstGeom>
          <a:solidFill>
            <a:srgbClr val="EAF2FF"/>
          </a:solidFill>
          <a:ln w="635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3"/>
          <p:cNvSpPr/>
          <p:nvPr/>
        </p:nvSpPr>
        <p:spPr>
          <a:xfrm>
            <a:off x="23457600" y="4233600"/>
            <a:ext cx="9964800" cy="39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3200" b="1" dirty="0">
                <a:solidFill>
                  <a:srgbClr val="163B6C"/>
                </a:solidFill>
                <a:latin typeface="Arial" pitchFamily="34" charset="0"/>
                <a:cs typeface="Arial" pitchFamily="34" charset="-120"/>
              </a:rPr>
              <a:t>5. Main Results / Examples</a:t>
            </a:r>
          </a:p>
        </p:txBody>
      </p:sp>
      <p:sp>
        <p:nvSpPr>
          <p:cNvPr id="67" name="Text 64"/>
          <p:cNvSpPr/>
          <p:nvPr/>
        </p:nvSpPr>
        <p:spPr>
          <a:xfrm>
            <a:off x="23400000" y="4788000"/>
            <a:ext cx="10080000" cy="1008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spAutoFit/>
          </a:bodyPr>
          <a:lstStyle/>
          <a:p>
            <a:pPr>
              <a:spcAft>
                <a:spcPts val="300"/>
              </a:spcAft>
            </a:pPr>
            <a:r>
              <a:rPr sz="2000"/>
              <a:t>Main benchmark across the full pipeline and four ablations, on the schema-level public/gold partition. The full system reaches saturated accuracy on this exploratory budget.</a:t>
            </a:r>
          </a:p>
        </p:txBody>
      </p:sp>
      <p:sp>
        <p:nvSpPr>
          <p:cNvPr id="68" name="Shape 65"/>
          <p:cNvSpPr/>
          <p:nvPr/>
        </p:nvSpPr>
        <p:spPr>
          <a:xfrm>
            <a:off x="23385600" y="5796000"/>
            <a:ext cx="10108800" cy="2916000"/>
          </a:xfrm>
          <a:prstGeom prst="roundRect">
            <a:avLst>
              <a:gd name="adj" fmla="val 988"/>
            </a:avLst>
          </a:prstGeom>
          <a:solidFill>
            <a:srgbClr val="FFFFFF"/>
          </a:solidFill>
          <a:ln w="1524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Shape 67"/>
          <p:cNvSpPr/>
          <p:nvPr/>
        </p:nvSpPr>
        <p:spPr>
          <a:xfrm>
            <a:off x="23385600" y="8964000"/>
            <a:ext cx="10108800" cy="3276000"/>
          </a:xfrm>
          <a:prstGeom prst="roundRect">
            <a:avLst>
              <a:gd name="adj" fmla="val 879"/>
            </a:avLst>
          </a:prstGeom>
          <a:solidFill>
            <a:srgbClr val="FFF8E6">
              <a:alpha val="82000"/>
            </a:srgbClr>
          </a:solidFill>
          <a:ln w="11430">
            <a:solidFill>
              <a:srgbClr val="D5D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Text 68"/>
          <p:cNvSpPr/>
          <p:nvPr/>
        </p:nvSpPr>
        <p:spPr>
          <a:xfrm>
            <a:off x="23544000" y="9079200"/>
            <a:ext cx="9792000" cy="25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sz="1600" b="1"/>
              <a:t>Result summary</a:t>
            </a:r>
            <a:endParaRPr lang="en-US" sz="2800" dirty="0"/>
          </a:p>
        </p:txBody>
      </p:sp>
      <p:sp>
        <p:nvSpPr>
          <p:cNvPr id="72" name="Text 69"/>
          <p:cNvSpPr/>
          <p:nvPr/>
        </p:nvSpPr>
        <p:spPr>
          <a:xfrm>
            <a:off x="23544000" y="9338400"/>
            <a:ext cx="9792000" cy="2800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spAutoFit/>
          </a:bodyPr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sz="1800"/>
              <a:t>Comparison: pipeline component ablations on same public/gold partition</a:t>
            </a:r>
            <a:endParaRPr lang="en-US" sz="2400" dirty="0"/>
          </a:p>
          <a:p>
            <a:pPr>
              <a:spcAft>
                <a:spcPts val="300"/>
              </a:spcAft>
            </a:pPr>
            <a:r>
              <a:rPr sz="1800"/>
              <a:t>Best: full system 1.00 / 1.00 (IID / OOD) vs 0.39-0.78 for ablations</a:t>
            </a:r>
          </a:p>
          <a:p>
            <a:pPr>
              <a:spcAft>
                <a:spcPts val="300"/>
              </a:spcAft>
            </a:pPr>
            <a:r>
              <a:rPr sz="1800"/>
              <a:t>Key insight: No-Abstention keeps high raw accuracy but fails on unidentifiable cases</a:t>
            </a:r>
          </a:p>
        </p:txBody>
      </p:sp>
      <p:sp>
        <p:nvSpPr>
          <p:cNvPr id="73" name="Shape 70"/>
          <p:cNvSpPr/>
          <p:nvPr/>
        </p:nvSpPr>
        <p:spPr>
          <a:xfrm>
            <a:off x="23112000" y="13320000"/>
            <a:ext cx="10656000" cy="8229600"/>
          </a:xfrm>
          <a:prstGeom prst="roundRect">
            <a:avLst>
              <a:gd name="adj" fmla="val 914"/>
            </a:avLst>
          </a:prstGeom>
          <a:solidFill>
            <a:srgbClr val="FFFFFF"/>
          </a:solidFill>
          <a:ln w="13970">
            <a:solidFill>
              <a:srgbClr val="D5DDE8"/>
            </a:solidFill>
            <a:prstDash val="solid"/>
          </a:ln>
          <a:effectLst>
            <a:outerShdw blurRad="12700" dist="50800" dir="2700000" algn="bl" rotWithShape="0">
              <a:srgbClr val="AAB4C8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4" name="Shape 71"/>
          <p:cNvSpPr/>
          <p:nvPr/>
        </p:nvSpPr>
        <p:spPr>
          <a:xfrm>
            <a:off x="23292000" y="13521600"/>
            <a:ext cx="10296000" cy="561600"/>
          </a:xfrm>
          <a:prstGeom prst="roundRect">
            <a:avLst>
              <a:gd name="adj" fmla="val 6410"/>
            </a:avLst>
          </a:prstGeom>
          <a:solidFill>
            <a:srgbClr val="EAF2FF"/>
          </a:solidFill>
          <a:ln w="635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Text 72"/>
          <p:cNvSpPr/>
          <p:nvPr/>
        </p:nvSpPr>
        <p:spPr>
          <a:xfrm>
            <a:off x="23457600" y="13557600"/>
            <a:ext cx="9964800" cy="39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" altLang="zh-CN" sz="3200" b="1" dirty="0">
                <a:solidFill>
                  <a:srgbClr val="163B6C"/>
                </a:solidFill>
                <a:latin typeface="Arial" pitchFamily="34" charset="0"/>
                <a:cs typeface="Arial" pitchFamily="34" charset="-120"/>
              </a:rPr>
              <a:t>Examples</a:t>
            </a:r>
            <a:endParaRPr sz="3200" dirty="0"/>
          </a:p>
        </p:txBody>
      </p:sp>
      <p:sp>
        <p:nvSpPr>
          <p:cNvPr id="76" name="Shape 73"/>
          <p:cNvSpPr/>
          <p:nvPr/>
        </p:nvSpPr>
        <p:spPr>
          <a:xfrm>
            <a:off x="23400000" y="14371200"/>
            <a:ext cx="4968000" cy="4114800"/>
          </a:xfrm>
          <a:prstGeom prst="roundRect">
            <a:avLst>
              <a:gd name="adj" fmla="val 611"/>
            </a:avLst>
          </a:prstGeom>
          <a:solidFill>
            <a:srgbClr val="EAF2FF">
              <a:alpha val="82000"/>
            </a:srgbClr>
          </a:solidFill>
          <a:ln w="11430">
            <a:solidFill>
              <a:srgbClr val="D5D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Text 74"/>
          <p:cNvSpPr/>
          <p:nvPr/>
        </p:nvSpPr>
        <p:spPr>
          <a:xfrm>
            <a:off x="23544000" y="14495891"/>
            <a:ext cx="4651200" cy="25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A</a:t>
            </a:r>
            <a:endParaRPr lang="en-US" sz="2400" dirty="0"/>
          </a:p>
        </p:txBody>
      </p:sp>
      <p:sp>
        <p:nvSpPr>
          <p:cNvPr id="78" name="Text 75"/>
          <p:cNvSpPr/>
          <p:nvPr/>
        </p:nvSpPr>
        <p:spPr>
          <a:xfrm>
            <a:off x="23544000" y="14500800"/>
            <a:ext cx="4651200" cy="3200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sz="2000"/>
              <a:t>Setup: latent confounding (L1) - observed correlation plus proxy variable; gold label is unidentifiable</a:t>
            </a:r>
            <a:endParaRPr lang="en-US" sz="2400" dirty="0"/>
          </a:p>
          <a:p>
            <a:pPr>
              <a:spcAft>
                <a:spcPts val="300"/>
              </a:spcAft>
            </a:pPr>
            <a:r>
              <a:rPr sz="2000"/>
              <a:t>Output: Stage 3 finds counter-SCM with hidden confounder; verdict unidentifiable + observational_equivalence refusal reason</a:t>
            </a:r>
          </a:p>
        </p:txBody>
      </p:sp>
      <p:sp>
        <p:nvSpPr>
          <p:cNvPr id="79" name="Shape 76"/>
          <p:cNvSpPr/>
          <p:nvPr/>
        </p:nvSpPr>
        <p:spPr>
          <a:xfrm>
            <a:off x="28526400" y="14371200"/>
            <a:ext cx="4968000" cy="4114800"/>
          </a:xfrm>
          <a:prstGeom prst="roundRect">
            <a:avLst>
              <a:gd name="adj" fmla="val 611"/>
            </a:avLst>
          </a:prstGeom>
          <a:solidFill>
            <a:srgbClr val="EAF7EE">
              <a:alpha val="82000"/>
            </a:srgbClr>
          </a:solidFill>
          <a:ln w="11430">
            <a:solidFill>
              <a:srgbClr val="D5D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" name="Text 77"/>
          <p:cNvSpPr/>
          <p:nvPr/>
        </p:nvSpPr>
        <p:spPr>
          <a:xfrm>
            <a:off x="28684800" y="14492618"/>
            <a:ext cx="4651200" cy="25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B</a:t>
            </a:r>
            <a:endParaRPr lang="en-US" sz="2400" dirty="0"/>
          </a:p>
        </p:txBody>
      </p:sp>
      <p:sp>
        <p:nvSpPr>
          <p:cNvPr id="81" name="Text 78"/>
          <p:cNvSpPr/>
          <p:nvPr/>
        </p:nvSpPr>
        <p:spPr>
          <a:xfrm>
            <a:off x="28684800" y="14500800"/>
            <a:ext cx="4651200" cy="3200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sz="2000"/>
              <a:t>Setup: positive-control verifier with access to one gold-only field on attack-only benchmark</a:t>
            </a:r>
            <a:endParaRPr lang="en-US" sz="2400" dirty="0"/>
          </a:p>
          <a:p>
            <a:pPr>
              <a:spcAft>
                <a:spcPts val="300"/>
              </a:spcAft>
            </a:pPr>
            <a:r>
              <a:rPr sz="2000"/>
              <a:t>Effect: leaking control reaches 1.00 IID accuracy vs 0.33 for clean public verifier (delta = +0.67)</a:t>
            </a:r>
          </a:p>
        </p:txBody>
      </p:sp>
      <p:pic>
        <p:nvPicPr>
          <p:cNvPr id="52" name="图片 51" descr="图片包含 文本&#10;&#10;AI 生成的内容可能不正确。">
            <a:extLst>
              <a:ext uri="{FF2B5EF4-FFF2-40B4-BE49-F238E27FC236}">
                <a16:creationId xmlns:a16="http://schemas.microsoft.com/office/drawing/2014/main" id="{A7764834-5861-4AED-68D8-E9BD7FB16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36000" y="1227281"/>
            <a:ext cx="5652000" cy="1533059"/>
          </a:xfrm>
          <a:prstGeom prst="rect">
            <a:avLst/>
          </a:prstGeom>
        </p:spPr>
      </p:pic>
      <p:pic>
        <p:nvPicPr>
          <p:cNvPr id="82" name="Picture 81" descr="method_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6000" y="14544000"/>
            <a:ext cx="9648000" cy="3101143"/>
          </a:xfrm>
          <a:prstGeom prst="rect">
            <a:avLst/>
          </a:prstGeom>
        </p:spPr>
      </p:pic>
      <p:graphicFrame>
        <p:nvGraphicFramePr>
          <p:cNvPr id="83" name="Table 82"/>
          <p:cNvGraphicFramePr>
            <a:graphicFrameLocks noGrp="1"/>
          </p:cNvGraphicFramePr>
          <p:nvPr/>
        </p:nvGraphicFramePr>
        <p:xfrm>
          <a:off x="23385600" y="5796000"/>
          <a:ext cx="10108800" cy="29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3104"/>
                <a:gridCol w="2122848"/>
                <a:gridCol w="2122848"/>
              </a:tblGrid>
              <a:tr h="486000">
                <a:tc>
                  <a:txBody>
                    <a:bodyPr/>
                    <a:lstStyle/>
                    <a:p>
                      <a:r>
                        <a:rPr sz="1500" b="1"/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/>
                        <a:t>IID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/>
                        <a:t>OOD</a:t>
                      </a:r>
                    </a:p>
                  </a:txBody>
                  <a:tcPr/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500" b="1"/>
                        <a:t>Countermodel-Grounded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/>
                        <a:t>1.00</a:t>
                      </a:r>
                    </a:p>
                  </a:txBody>
                  <a:tcPr/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500" b="0"/>
                        <a:t>No-Tools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0.61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0.61</a:t>
                      </a:r>
                    </a:p>
                  </a:txBody>
                  <a:tcPr/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500" b="0"/>
                        <a:t>No-Countermodel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0.61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0.44</a:t>
                      </a:r>
                    </a:p>
                  </a:txBody>
                  <a:tcPr/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500" b="0"/>
                        <a:t>No-Abstention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0.94</a:t>
                      </a:r>
                    </a:p>
                  </a:txBody>
                  <a:tcPr/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500" b="0"/>
                        <a:t>Claim-Only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0.39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477</Words>
  <Application>Microsoft Macintosh PowerPoint</Application>
  <PresentationFormat>自定义</PresentationFormat>
  <Paragraphs>49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ICML-style Poster Template</dc:title>
  <dc:subject>ICML-style poster template</dc:subject>
  <dc:creator>OpenAI</dc:creator>
  <cp:lastModifiedBy>Yi He</cp:lastModifiedBy>
  <cp:revision>4</cp:revision>
  <dcterms:created xsi:type="dcterms:W3CDTF">2026-04-02T02:46:53Z</dcterms:created>
  <dcterms:modified xsi:type="dcterms:W3CDTF">2026-04-02T04:02:24Z</dcterms:modified>
</cp:coreProperties>
</file>