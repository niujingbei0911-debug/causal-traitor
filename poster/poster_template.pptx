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7955279" cy="34747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2700" b="1">
                <a:solidFill>
                  <a:srgbClr val="1F2328"/>
                </a:solidFill>
                <a:latin typeface="Aptos"/>
              </a:rPr>
              <a:t>Selective Adversarial Causal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75488"/>
            <a:ext cx="7955279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300" b="0">
                <a:solidFill>
                  <a:srgbClr val="5B636E"/>
                </a:solidFill>
                <a:latin typeface="Aptos"/>
              </a:rPr>
              <a:t>Information-partitioned benchmark contract + countermodel-grounded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64592"/>
            <a:ext cx="4480560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1200" b="0">
                <a:solidFill>
                  <a:srgbClr val="1F2328"/>
                </a:solidFill>
                <a:latin typeface="Aptos"/>
              </a:rPr>
              <a:t>Jingbei Niu   Zeyuan Tong   Yuhang Li | Zhejiang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"/>
            <a:ext cx="6035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36E"/>
                </a:solidFill>
                <a:latin typeface="Aptos"/>
              </a:rPr>
              <a:t>Fixed-code exploratory snapshot | seeds=[0, 1, 2] | 10 samples/family | difficulty=0.55 | error bars: 95% CI over seed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42519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Task &amp; 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16152"/>
            <a:ext cx="425196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25880"/>
            <a:ext cx="4069080" cy="91440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Verifier sees public scenario + claim only.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Gold SCM, labels, hidden variables stay evaluator-only.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Verdict space: VALID / INVALID / UNIDENTIFIABLE.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Score includes unsafe acceptance and wise refusal.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31720"/>
            <a:ext cx="4251960" cy="1234440"/>
          </a:xfrm>
          <a:prstGeom prst="roundRect">
            <a:avLst/>
          </a:prstGeom>
          <a:solidFill>
            <a:srgbClr val="FAFCFF"/>
          </a:solidFill>
          <a:ln w="952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87168"/>
            <a:ext cx="15544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300" b="1">
                <a:solidFill>
                  <a:srgbClr val="145388"/>
                </a:solidFill>
                <a:latin typeface="Aptos"/>
              </a:rPr>
              <a:t>Generated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388620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100" b="0">
                <a:solidFill>
                  <a:srgbClr val="1F2328"/>
                </a:solidFill>
                <a:latin typeface="Aptos"/>
              </a:rPr>
              <a:t>Claim: observed association between therapy_flag and yield_score is enough for a causal conclusion.
Correct label: UNIDENTIFIABLE, because public evidence leaves reverse causality/confounding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840480"/>
            <a:ext cx="42519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Reference Verifier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096512"/>
            <a:ext cx="425196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206240"/>
            <a:ext cx="4160520" cy="96012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Parse claim -&gt; build identifying-assumption ledger.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Search public-compatible counter-SCMs.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Run Pearl-style tools as supporting evidence.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Return verdict + refusal reason + witness.</a:t>
            </a:r>
          </a:p>
        </p:txBody>
      </p:sp>
      <p:pic>
        <p:nvPicPr>
          <p:cNvPr id="16" name="Picture 15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349240"/>
            <a:ext cx="4251960" cy="13667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83480" y="960120"/>
            <a:ext cx="457200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Main 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216152"/>
            <a:ext cx="457200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i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298448"/>
            <a:ext cx="4800600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0" y="4096512"/>
            <a:ext cx="4434840" cy="77724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Ours: OOD acc 0.891, unsafe accept 0.000.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Best strong LLM: GPT-5.5 OOD acc 0.545, unsafe accept 0.071.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Interpretation: public-view LLM judges still miss the benchmark's selective-refusal contract.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5166360"/>
            <a:ext cx="457200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Ablation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5422392"/>
            <a:ext cx="457200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blatio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5486400"/>
            <a:ext cx="4800600" cy="2468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921240" y="960120"/>
            <a:ext cx="42976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OOD Stress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1216152"/>
            <a:ext cx="429768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od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298448"/>
            <a:ext cx="4572000" cy="235131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012680" y="4096512"/>
            <a:ext cx="3977639" cy="64008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Paired-flip is the clearest current failure slice: acc 0.439.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Graph/mechanism buckets are saturated in this small snapshot.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5074920"/>
            <a:ext cx="42976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Validity Gates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5330952"/>
            <a:ext cx="429768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40" y="5440680"/>
            <a:ext cx="4297680" cy="2176272"/>
          </a:xfrm>
          <a:prstGeom prst="roundRect">
            <a:avLst/>
          </a:prstGeom>
          <a:solidFill>
            <a:srgbClr val="FAFCFF"/>
          </a:solidFill>
          <a:ln w="952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5596128"/>
            <a:ext cx="4023360" cy="182880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1F2328"/>
                </a:solidFill>
                <a:latin typeface="Aptos"/>
              </a:defRPr>
            </a:pPr>
            <a:r>
              <a:t>Leakage control: oracle-positive reaches 1.000/1.000; score gain is contamination.</a:t>
            </a:r>
          </a:p>
          <a:p>
            <a:pPr>
              <a:spcAft>
                <a:spcPts val="400"/>
              </a:spcAft>
              <a:defRPr sz="900">
                <a:solidFill>
                  <a:srgbClr val="1F2328"/>
                </a:solidFill>
                <a:latin typeface="Aptos"/>
              </a:defRPr>
            </a:pPr>
            <a:r>
              <a:t>LLM matrix: 5 models, n=1245, failed=0, parse=0, fallback=0; best OOD GPT-5.5 acc=0.545, unsafe=0.071.</a:t>
            </a:r>
          </a:p>
          <a:p>
            <a:pPr>
              <a:spcAft>
                <a:spcPts val="400"/>
              </a:spcAft>
              <a:defRPr sz="900">
                <a:solidFill>
                  <a:srgbClr val="1F2328"/>
                </a:solidFill>
                <a:latin typeface="Aptos"/>
              </a:defRPr>
            </a:pPr>
            <a:r>
              <a:t>Human audit: dual annotation pending; no real-grounded headline.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7818120"/>
            <a:ext cx="13807440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B636E"/>
                </a:solidFill>
                <a:latin typeface="Aptos"/>
              </a:rPr>
              <a:t>Manifest: outputs/paper_facing/manifest.json | LLM matrix: full_llm_baseline_matrix_completed | Poster generated from frozen JSON artifacts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