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7955279" cy="34747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2700" b="1">
                <a:solidFill>
                  <a:srgbClr val="1F2328"/>
                </a:solidFill>
                <a:latin typeface="Aptos"/>
              </a:rPr>
              <a:t>Selective Adversarial Causal Oversight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475488"/>
            <a:ext cx="7955279" cy="21945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300" b="0">
                <a:solidFill>
                  <a:srgbClr val="5B636E"/>
                </a:solidFill>
                <a:latin typeface="Aptos"/>
              </a:rPr>
              <a:t>Benchmark prototype + countermodel-grounded reference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164592"/>
            <a:ext cx="4480560" cy="21945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r"/>
            <a:r>
              <a:rPr sz="1200" b="0">
                <a:solidFill>
                  <a:srgbClr val="1F2328"/>
                </a:solidFill>
                <a:latin typeface="Aptos"/>
              </a:rPr>
              <a:t>Jingbei Niu   Zeyuan Tong   Yuhang Li | Zhejiang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75488"/>
            <a:ext cx="603504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36E"/>
                </a:solidFill>
                <a:latin typeface="Aptos"/>
              </a:rPr>
              <a:t>Exploratory snapshot | seeds=[0, 1, 2] | 10/family | diff=0.55 | 95% CI where shown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425196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600" b="1">
                <a:solidFill>
                  <a:srgbClr val="145388"/>
                </a:solidFill>
                <a:latin typeface="Aptos"/>
              </a:rPr>
              <a:t>Task &amp; Contract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16152"/>
            <a:ext cx="4251960" cy="13716"/>
          </a:xfrm>
          <a:prstGeom prst="rect">
            <a:avLst/>
          </a:prstGeom>
          <a:solidFill>
            <a:srgbClr val="145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25880"/>
            <a:ext cx="4069080" cy="914400"/>
          </a:xfrm>
          <a:prstGeom prst="rect">
            <a:avLst/>
          </a:prstGeom>
          <a:noFill/>
        </p:spPr>
        <p:txBody>
          <a:bodyPr wrap="none" lIns="45720" rIns="45720" tIns="18288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Verifier sees public scenario + claim only.</a:t>
            </a:r>
          </a:p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Gold SCM, labels, hidden variables stay evaluator-only.</a:t>
            </a:r>
          </a:p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Verdict space: VALID / INVALID / UNIDENTIFIABLE.</a:t>
            </a:r>
          </a:p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Score includes unsafe acceptance and wise refusal.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31720"/>
            <a:ext cx="4251960" cy="1234440"/>
          </a:xfrm>
          <a:prstGeom prst="roundRect">
            <a:avLst/>
          </a:prstGeom>
          <a:solidFill>
            <a:srgbClr val="FAFCFF"/>
          </a:solidFill>
          <a:ln w="9525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487168"/>
            <a:ext cx="155448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300" b="1">
                <a:solidFill>
                  <a:srgbClr val="145388"/>
                </a:solidFill>
                <a:latin typeface="Aptos"/>
              </a:rPr>
              <a:t>Generated Case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43200"/>
            <a:ext cx="3886200" cy="6583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100" b="0">
                <a:solidFill>
                  <a:srgbClr val="1F2328"/>
                </a:solidFill>
                <a:latin typeface="Aptos"/>
              </a:rPr>
              <a:t>Claim: observed association between therapy_flag and yield_score is enough for a causal conclusion.
Correct label: UNIDENTIFIABLE, because public evidence leaves reverse causality/confounding open.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840480"/>
            <a:ext cx="425196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600" b="1">
                <a:solidFill>
                  <a:srgbClr val="145388"/>
                </a:solidFill>
                <a:latin typeface="Aptos"/>
              </a:rPr>
              <a:t>Reference Verifier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096512"/>
            <a:ext cx="4251960" cy="13716"/>
          </a:xfrm>
          <a:prstGeom prst="rect">
            <a:avLst/>
          </a:prstGeom>
          <a:solidFill>
            <a:srgbClr val="145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4206240"/>
            <a:ext cx="4160520" cy="960120"/>
          </a:xfrm>
          <a:prstGeom prst="rect">
            <a:avLst/>
          </a:prstGeom>
          <a:noFill/>
        </p:spPr>
        <p:txBody>
          <a:bodyPr wrap="none" lIns="45720" rIns="45720" tIns="18288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Parse claim -&gt; build identifying-assumption ledger.</a:t>
            </a:r>
          </a:p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Search public-compatible counter-SCMs.</a:t>
            </a:r>
          </a:p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Run Pearl-style tools as supporting evidence.</a:t>
            </a:r>
          </a:p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Return verdict + refusal reason + witness.</a:t>
            </a:r>
          </a:p>
        </p:txBody>
      </p:sp>
      <p:pic>
        <p:nvPicPr>
          <p:cNvPr id="16" name="Picture 15" descr="method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349240"/>
            <a:ext cx="4251960" cy="136670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983480" y="960120"/>
            <a:ext cx="457200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600" b="1">
                <a:solidFill>
                  <a:srgbClr val="145388"/>
                </a:solidFill>
                <a:latin typeface="Aptos"/>
              </a:rPr>
              <a:t>Main Result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80" y="1216152"/>
            <a:ext cx="4572000" cy="13716"/>
          </a:xfrm>
          <a:prstGeom prst="rect">
            <a:avLst/>
          </a:prstGeom>
          <a:solidFill>
            <a:srgbClr val="145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ain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298448"/>
            <a:ext cx="4800600" cy="2468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0" y="4096512"/>
            <a:ext cx="4434840" cy="777240"/>
          </a:xfrm>
          <a:prstGeom prst="rect">
            <a:avLst/>
          </a:prstGeom>
          <a:noFill/>
        </p:spPr>
        <p:txBody>
          <a:bodyPr wrap="none" lIns="45720" rIns="45720" tIns="18288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F2328"/>
                </a:solidFill>
                <a:latin typeface="Aptos"/>
              </a:defRPr>
            </a:pPr>
            <a:r>
              <a:t>Ours: OOD acc 0.891, unsafe accept 0.000.</a:t>
            </a:r>
          </a:p>
          <a:p>
            <a:pPr>
              <a:spcAft>
                <a:spcPts val="400"/>
              </a:spcAft>
              <a:defRPr sz="1200">
                <a:solidFill>
                  <a:srgbClr val="1F2328"/>
                </a:solidFill>
                <a:latin typeface="Aptos"/>
              </a:defRPr>
            </a:pPr>
            <a:r>
              <a:t>GPT-5.5 prompt baseline: OOD acc 0.545, unsafe accept 0.071.</a:t>
            </a:r>
          </a:p>
          <a:p>
            <a:pPr>
              <a:spcAft>
                <a:spcPts val="400"/>
              </a:spcAft>
              <a:defRPr sz="1200">
                <a:solidFill>
                  <a:srgbClr val="1F2328"/>
                </a:solidFill>
                <a:latin typeface="Aptos"/>
              </a:defRPr>
            </a:pPr>
            <a:r>
              <a:t>Interpretation: current prompt baselines expose the selective-refusal gap.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5166360"/>
            <a:ext cx="457200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600" b="1">
                <a:solidFill>
                  <a:srgbClr val="145388"/>
                </a:solidFill>
                <a:latin typeface="Aptos"/>
              </a:rPr>
              <a:t>Ablation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5422392"/>
            <a:ext cx="4572000" cy="13716"/>
          </a:xfrm>
          <a:prstGeom prst="rect">
            <a:avLst/>
          </a:prstGeom>
          <a:solidFill>
            <a:srgbClr val="145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ablation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5486400"/>
            <a:ext cx="4800600" cy="2468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921240" y="960120"/>
            <a:ext cx="429768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600" b="1">
                <a:solidFill>
                  <a:srgbClr val="145388"/>
                </a:solidFill>
                <a:latin typeface="Aptos"/>
              </a:rPr>
              <a:t>OOD Stress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1216152"/>
            <a:ext cx="4297680" cy="13716"/>
          </a:xfrm>
          <a:prstGeom prst="rect">
            <a:avLst/>
          </a:prstGeom>
          <a:solidFill>
            <a:srgbClr val="145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od_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0" y="1298448"/>
            <a:ext cx="4572000" cy="235131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012680" y="4096512"/>
            <a:ext cx="3977639" cy="640080"/>
          </a:xfrm>
          <a:prstGeom prst="rect">
            <a:avLst/>
          </a:prstGeom>
          <a:noFill/>
        </p:spPr>
        <p:txBody>
          <a:bodyPr wrap="none" lIns="45720" rIns="45720" tIns="18288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F2328"/>
                </a:solidFill>
                <a:latin typeface="Aptos"/>
              </a:defRPr>
            </a:pPr>
            <a:r>
              <a:t>Paired-flip is the clearest current failure slice: acc 0.439.</a:t>
            </a:r>
          </a:p>
          <a:p>
            <a:pPr>
              <a:spcAft>
                <a:spcPts val="400"/>
              </a:spcAft>
              <a:defRPr sz="1200">
                <a:solidFill>
                  <a:srgbClr val="1F2328"/>
                </a:solidFill>
                <a:latin typeface="Aptos"/>
              </a:defRPr>
            </a:pPr>
            <a:r>
              <a:t>Graph/mechanism buckets are saturated smoke tests, not headline robustness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5074920"/>
            <a:ext cx="429768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600" b="1">
                <a:solidFill>
                  <a:srgbClr val="145388"/>
                </a:solidFill>
                <a:latin typeface="Aptos"/>
              </a:rPr>
              <a:t>Validity Gates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21240" y="5330952"/>
            <a:ext cx="4297680" cy="13716"/>
          </a:xfrm>
          <a:prstGeom prst="rect">
            <a:avLst/>
          </a:prstGeom>
          <a:solidFill>
            <a:srgbClr val="145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21240" y="5440680"/>
            <a:ext cx="4297680" cy="2176272"/>
          </a:xfrm>
          <a:prstGeom prst="roundRect">
            <a:avLst/>
          </a:prstGeom>
          <a:solidFill>
            <a:srgbClr val="FAFCFF"/>
          </a:solidFill>
          <a:ln w="9525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04120" y="5596128"/>
            <a:ext cx="4023360" cy="1828800"/>
          </a:xfrm>
          <a:prstGeom prst="rect">
            <a:avLst/>
          </a:prstGeom>
          <a:noFill/>
        </p:spPr>
        <p:txBody>
          <a:bodyPr wrap="none" lIns="45720" rIns="45720" tIns="18288">
            <a:spAutoFit/>
          </a:bodyPr>
          <a:lstStyle/>
          <a:p>
            <a:pPr>
              <a:spcAft>
                <a:spcPts val="400"/>
              </a:spcAft>
              <a:defRPr sz="800">
                <a:solidFill>
                  <a:srgbClr val="1F2328"/>
                </a:solidFill>
                <a:latin typeface="Aptos"/>
              </a:defRPr>
            </a:pPr>
            <a:r>
              <a:t>Leakage control: oracle-positive reaches 1.000/1.000; score gain is contamination.</a:t>
            </a:r>
          </a:p>
          <a:p>
            <a:pPr>
              <a:spcAft>
                <a:spcPts val="400"/>
              </a:spcAft>
              <a:defRPr sz="800">
                <a:solidFill>
                  <a:srgbClr val="1F2328"/>
                </a:solidFill>
                <a:latin typeface="Aptos"/>
              </a:defRPr>
            </a:pPr>
            <a:r>
              <a:t>LLM matrix: 5 models, n=1245, failed=0, parse=0, fallback=0; best OOD GPT-5.5 acc=0.545, unsafe=0.071.</a:t>
            </a:r>
          </a:p>
          <a:p>
            <a:pPr>
              <a:spcAft>
                <a:spcPts val="400"/>
              </a:spcAft>
              <a:defRPr sz="800">
                <a:solidFill>
                  <a:srgbClr val="1F2328"/>
                </a:solidFill>
                <a:latin typeface="Aptos"/>
              </a:defRPr>
            </a:pPr>
            <a:r>
              <a:t>Release gates: larger synthetic runs, real-grounded dual audit, frozen model versions.</a:t>
            </a:r>
          </a:p>
          <a:p>
            <a:pPr>
              <a:spcAft>
                <a:spcPts val="400"/>
              </a:spcAft>
              <a:defRPr sz="800">
                <a:solidFill>
                  <a:srgbClr val="1F2328"/>
                </a:solidFill>
                <a:latin typeface="Aptos"/>
              </a:defRPr>
            </a:pPr>
            <a:r>
              <a:t>Current status: prototype evidence, not a mature benchmark release.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7818120"/>
            <a:ext cx="13807440" cy="21945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5B636E"/>
                </a:solidFill>
                <a:latin typeface="Aptos"/>
              </a:rPr>
              <a:t>Manifest: outputs/paper_facing/manifest.json | LLM matrix: full_llm_baseline_matrix_completed | Poster generated from frozen JSON artifacts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