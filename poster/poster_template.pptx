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34559875" cy="25920700"/>
  <p:notesSz cx="32918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3A69"/>
    <a:srgbClr val="182A58"/>
    <a:srgbClr val="163B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97"/>
    <p:restoredTop sz="94610"/>
  </p:normalViewPr>
  <p:slideViewPr>
    <p:cSldViewPr snapToGrid="0" snapToObjects="1">
      <p:cViewPr>
        <p:scale>
          <a:sx n="38" d="100"/>
          <a:sy n="38" d="100"/>
        </p:scale>
        <p:origin x="73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0895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ICML official poster instructions list suggested main-conference poster sizes of 36 x 48, 36 x 60, and 36 x 72 inches; this template uses 36 x 48 inches as a practical default. https://icml.cc/Conferences/2025/PosterInstructions
- ICML 2026 downloads page states the ICML logo may be used on presentations, but this template intentionally avoids embedding official branding so the user can add it selectively. https://icml.cc/Downloads/2026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slide1.xml><?xml version="1.0" encoding="utf-8"?>
<p:sld xmlns:a="http://schemas.openxmlformats.org/drawingml/2006/main" xmlns:ns2="http://schemas.microsoft.com/office/drawing/2014/main" xmlns:p="http://schemas.openxmlformats.org/presentationml/2006/main" xmlns:r="http://schemas.openxmlformats.org/officeDocument/2006/relationships">
  <p:cSld name="Slide 1">
    <p:bg>
      <p:bgPr>
        <a:solidFill>
          <a:srgbClr val="F7F9FC"/>
        </a:solidFill>
        <a:effectLst/>
      </p:bgPr>
    </p:bg>
    <p:spTree>
      <p:nvGrpSpPr>
        <p:cNvPr id="1" name=""/>
        <p:cNvGrpSpPr/>
        <p:nvPr/>
      </p:nvGrpSpPr>
      <p:grpSpPr>
        <a:xfrm>
          <a:off x="0" y="0"/>
          <a:ext cx="0" cy="0"/>
          <a:chOff x="0" y="0"/>
          <a:chExt cx="0" cy="0"/>
        </a:xfrm>
      </p:grpSpPr>
      <p:sp>
        <p:nvSpPr>
          <p:cNvPr id="3" name="Shape 0"/>
          <p:cNvSpPr/>
          <p:nvPr/>
        </p:nvSpPr>
        <p:spPr>
          <a:xfrm>
            <a:off x="0" y="0"/>
            <a:ext cx="34560000" cy="25920000"/>
          </a:xfrm>
          <a:prstGeom prst="rect">
            <a:avLst/>
          </a:prstGeom>
          <a:solidFill>
            <a:srgbClr val="F7F9FC"/>
          </a:solidFill>
          <a:ln w="12700">
            <a:solidFill>
              <a:srgbClr val="F7F9FC"/>
            </a:solidFill>
            <a:prstDash val="solid"/>
          </a:ln>
        </p:spPr>
        <p:txBody>
          <a:bodyPr/>
          <a:lstStyle/>
          <a:p>
            <a:endParaRPr lang="zh-CN" altLang="en-US"/>
          </a:p>
        </p:txBody>
      </p:sp>
      <p:sp>
        <p:nvSpPr>
          <p:cNvPr id="4" name="Shape 1"/>
          <p:cNvSpPr/>
          <p:nvPr/>
        </p:nvSpPr>
        <p:spPr>
          <a:xfrm>
            <a:off x="0" y="0"/>
            <a:ext cx="34560000" cy="828000"/>
          </a:xfrm>
          <a:prstGeom prst="rect">
            <a:avLst/>
          </a:prstGeom>
          <a:solidFill>
            <a:srgbClr val="163B6C"/>
          </a:solidFill>
          <a:ln w="12700">
            <a:solidFill>
              <a:srgbClr val="163B6C"/>
            </a:solidFill>
            <a:prstDash val="solid"/>
          </a:ln>
        </p:spPr>
        <p:txBody>
          <a:bodyPr/>
          <a:lstStyle/>
          <a:p>
            <a:endParaRPr lang="zh-CN" altLang="en-US"/>
          </a:p>
        </p:txBody>
      </p:sp>
      <p:sp>
        <p:nvSpPr>
          <p:cNvPr id="5" name="Shape 2"/>
          <p:cNvSpPr/>
          <p:nvPr/>
        </p:nvSpPr>
        <p:spPr>
          <a:xfrm>
            <a:off x="0" y="25452000"/>
            <a:ext cx="34560000" cy="468000"/>
          </a:xfrm>
          <a:prstGeom prst="rect">
            <a:avLst/>
          </a:prstGeom>
          <a:solidFill>
            <a:srgbClr val="163B6C"/>
          </a:solidFill>
          <a:ln w="12700">
            <a:solidFill>
              <a:srgbClr val="163B6C"/>
            </a:solidFill>
            <a:prstDash val="solid"/>
          </a:ln>
        </p:spPr>
        <p:txBody>
          <a:bodyPr/>
          <a:lstStyle/>
          <a:p>
            <a:endParaRPr lang="zh-CN" altLang="en-US"/>
          </a:p>
        </p:txBody>
      </p:sp>
      <p:sp>
        <p:nvSpPr>
          <p:cNvPr id="6" name="Shape 3"/>
          <p:cNvSpPr/>
          <p:nvPr/>
        </p:nvSpPr>
        <p:spPr>
          <a:xfrm>
            <a:off x="792000" y="828000"/>
            <a:ext cx="32976000" cy="2808000"/>
          </a:xfrm>
          <a:prstGeom prst="roundRect">
            <a:avLst>
              <a:gd name="adj" fmla="val 2564"/>
            </a:avLst>
          </a:prstGeom>
          <a:solidFill>
            <a:srgbClr val="FFFFFF"/>
          </a:solidFill>
          <a:ln w="1524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7" name="Text 4"/>
          <p:cNvSpPr/>
          <p:nvPr/>
        </p:nvSpPr>
        <p:spPr>
          <a:xfrm>
            <a:off x="1188000" y="1116000"/>
            <a:ext cx="25632000" cy="828000"/>
          </a:xfrm>
          <a:prstGeom prst="rect">
            <a:avLst/>
          </a:prstGeom>
          <a:noFill/>
          <a:ln/>
        </p:spPr>
        <p:txBody>
          <a:bodyPr wrap="square" lIns="50800" tIns="0" rIns="50800" bIns="0" rtlCol="0" anchor="ctr">
            <a:normAutofit/>
          </a:bodyPr>
          <a:lstStyle/>
          <a:p>
            <a:pPr algn="l"/>
            <a:r>
              <a:rPr sz="2800" b="1"/>
              <a:t>Selective Adversarial Causal Oversight: Information-Partitioned Benchmark Contract and Countermodel-Grounded Reference Verifier</a:t>
            </a:r>
          </a:p>
        </p:txBody>
      </p:sp>
      <p:sp>
        <p:nvSpPr>
          <p:cNvPr id="8" name="Text 5"/>
          <p:cNvSpPr/>
          <p:nvPr/>
        </p:nvSpPr>
        <p:spPr>
          <a:xfrm>
            <a:off x="1238400" y="2016000"/>
            <a:ext cx="17640000" cy="360000"/>
          </a:xfrm>
          <a:prstGeom prst="rect">
            <a:avLst/>
          </a:prstGeom>
          <a:noFill/>
          <a:ln/>
        </p:spPr>
        <p:txBody>
          <a:bodyPr wrap="none" lIns="0" tIns="0" rIns="0" bIns="0" rtlCol="0" anchor="ctr">
            <a:noAutofit/>
          </a:bodyPr>
          <a:lstStyle/>
          <a:p>
            <a:pPr marL="0" indent="0">
              <a:spcAft>
                <a:spcPts val="300"/>
              </a:spcAft>
              <a:buNone/>
            </a:pPr>
            <a:r>
              <a:rPr sz="2300"/>
              <a:t>Jingbei Niu   Zeyuan Tong   Yuhang Li</a:t>
            </a:r>
            <a:endParaRPr lang="en-US" sz="3200" dirty="0"/>
          </a:p>
        </p:txBody>
      </p:sp>
      <p:sp>
        <p:nvSpPr>
          <p:cNvPr id="9" name="Text 6"/>
          <p:cNvSpPr/>
          <p:nvPr/>
        </p:nvSpPr>
        <p:spPr>
          <a:xfrm>
            <a:off x="1238400" y="2487724"/>
            <a:ext cx="20520000" cy="316800"/>
          </a:xfrm>
          <a:prstGeom prst="rect">
            <a:avLst/>
          </a:prstGeom>
          <a:noFill/>
          <a:ln/>
        </p:spPr>
        <p:txBody>
          <a:bodyPr wrap="square" lIns="50800" tIns="0" rIns="50800" bIns="0" rtlCol="0" anchor="ctr">
            <a:normAutofit/>
          </a:bodyPr>
          <a:lstStyle/>
          <a:p>
            <a:pPr algn="l"/>
            <a:r>
              <a:rPr sz="1200"/>
              <a:t>Course project - Causal Reasoning - Spring-Summer 2026 - fixed-code exploratory snapshot</a:t>
            </a:r>
          </a:p>
        </p:txBody>
      </p:sp>
      <p:sp>
        <p:nvSpPr>
          <p:cNvPr id="10" name="Text 7"/>
          <p:cNvSpPr/>
          <p:nvPr/>
        </p:nvSpPr>
        <p:spPr>
          <a:xfrm>
            <a:off x="1238400" y="2838786"/>
            <a:ext cx="14400000" cy="244800"/>
          </a:xfrm>
          <a:prstGeom prst="rect">
            <a:avLst/>
          </a:prstGeom>
          <a:noFill/>
          <a:ln/>
        </p:spPr>
        <p:txBody>
          <a:bodyPr wrap="square" lIns="0" tIns="0" rIns="0" bIns="0" rtlCol="0" anchor="ctr">
            <a:normAutofit/>
          </a:bodyPr>
          <a:lstStyle/>
          <a:p>
            <a:pPr marL="0" indent="0">
              <a:buNone/>
            </a:pPr>
            <a:endParaRPr lang="en-US" sz="2000" dirty="0"/>
          </a:p>
        </p:txBody>
      </p:sp>
      <p:sp>
        <p:nvSpPr>
          <p:cNvPr id="16" name="Shape 13"/>
          <p:cNvSpPr/>
          <p:nvPr/>
        </p:nvSpPr>
        <p:spPr>
          <a:xfrm>
            <a:off x="792000" y="3996000"/>
            <a:ext cx="10656000" cy="7344000"/>
          </a:xfrm>
          <a:prstGeom prst="roundRect">
            <a:avLst>
              <a:gd name="adj" fmla="val 784"/>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17" name="Shape 14"/>
          <p:cNvSpPr/>
          <p:nvPr/>
        </p:nvSpPr>
        <p:spPr>
          <a:xfrm>
            <a:off x="97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18" name="Text 15"/>
          <p:cNvSpPr/>
          <p:nvPr/>
        </p:nvSpPr>
        <p:spPr>
          <a:xfrm>
            <a:off x="1137600" y="4233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1. Motivation &amp; Abstract</a:t>
            </a:r>
            <a:endParaRPr lang="en-US" sz="3200" dirty="0"/>
          </a:p>
        </p:txBody>
      </p:sp>
      <p:sp>
        <p:nvSpPr>
          <p:cNvPr id="19" name="Text 16"/>
          <p:cNvSpPr/>
          <p:nvPr/>
        </p:nvSpPr>
        <p:spPr>
          <a:xfrm>
            <a:off x="1080000" y="4788000"/>
            <a:ext cx="10080000" cy="1836000"/>
          </a:xfrm>
          <a:prstGeom prst="rect">
            <a:avLst/>
          </a:prstGeom>
          <a:noFill/>
          <a:ln/>
        </p:spPr>
        <p:txBody>
          <a:bodyPr wrap="square" lIns="50800" tIns="1016" rIns="50800" bIns="1016" rtlCol="0" anchor="t">
            <a:spAutoFit/>
          </a:bodyPr>
          <a:lstStyle/>
          <a:p>
            <a:pPr algn="l"/>
            <a:r>
              <a:rPr sz="1200"/>
              <a:t>Causal claim oversight is public-view verification under private information. Some claims are valid, some are invalid, and some are genuinely unidentifiable from public evidence alone. We formalize selective adversarial causal oversight and treat correct refusal as a causal-identification requirement rather than a generic uncertainty fallback.</a:t>
            </a:r>
          </a:p>
        </p:txBody>
      </p:sp>
      <p:sp>
        <p:nvSpPr>
          <p:cNvPr id="20" name="Shape 17"/>
          <p:cNvSpPr/>
          <p:nvPr/>
        </p:nvSpPr>
        <p:spPr>
          <a:xfrm>
            <a:off x="1065600" y="6732000"/>
            <a:ext cx="10108800" cy="1440000"/>
          </a:xfrm>
          <a:prstGeom prst="roundRect">
            <a:avLst>
              <a:gd name="adj" fmla="val 2000"/>
            </a:avLst>
          </a:prstGeom>
          <a:solidFill>
            <a:srgbClr val="EAF2FF">
              <a:alpha val="82000"/>
            </a:srgbClr>
          </a:solidFill>
          <a:ln w="11430">
            <a:solidFill>
              <a:srgbClr val="D5DDE8"/>
            </a:solidFill>
            <a:prstDash val="solid"/>
          </a:ln>
        </p:spPr>
        <p:txBody>
          <a:bodyPr/>
          <a:lstStyle/>
          <a:p>
            <a:endParaRPr lang="zh-CN" altLang="en-US"/>
          </a:p>
        </p:txBody>
      </p:sp>
      <p:sp>
        <p:nvSpPr>
          <p:cNvPr id="21" name="Text 18"/>
          <p:cNvSpPr/>
          <p:nvPr/>
        </p:nvSpPr>
        <p:spPr>
          <a:xfrm>
            <a:off x="1224000" y="6847200"/>
            <a:ext cx="9792000" cy="259200"/>
          </a:xfrm>
          <a:prstGeom prst="rect">
            <a:avLst/>
          </a:prstGeom>
          <a:noFill/>
          <a:ln/>
        </p:spPr>
        <p:txBody>
          <a:bodyPr wrap="square" lIns="0" tIns="0" rIns="0" bIns="0" rtlCol="0" anchor="ctr">
            <a:normAutofit/>
          </a:bodyPr>
          <a:lstStyle/>
          <a:p>
            <a:pPr marL="0" indent="0">
              <a:spcAft>
                <a:spcPts val="300"/>
              </a:spcAft>
              <a:buNone/>
            </a:pPr>
            <a:r>
              <a:rPr sz="1600" b="1"/>
              <a:t>At a glance</a:t>
            </a:r>
            <a:endParaRPr lang="en-US" sz="2400" dirty="0"/>
          </a:p>
        </p:txBody>
      </p:sp>
      <p:sp>
        <p:nvSpPr>
          <p:cNvPr id="22" name="Text 19"/>
          <p:cNvSpPr/>
          <p:nvPr/>
        </p:nvSpPr>
        <p:spPr>
          <a:xfrm>
            <a:off x="1224000" y="7106400"/>
            <a:ext cx="9792000" cy="964800"/>
          </a:xfrm>
          <a:prstGeom prst="rect">
            <a:avLst/>
          </a:prstGeom>
          <a:noFill/>
          <a:ln/>
        </p:spPr>
        <p:txBody>
          <a:bodyPr wrap="square" lIns="50800" tIns="381" rIns="50800" bIns="381" rtlCol="0" anchor="ctr">
            <a:spAutoFit/>
          </a:bodyPr>
          <a:lstStyle/>
          <a:p>
            <a:pPr algn="l"/>
            <a:r>
              <a:rPr sz="1200"/>
              <a:t>Hook: causal oversight is public-view verification under private information | Problem: yes/no judges unsafe-accept under non-identifiability; leakage can fake competence | Current evidence: schema partition + synthetic fixed-code snapshot; real-grounded human audit pending</a:t>
            </a:r>
          </a:p>
        </p:txBody>
      </p:sp>
      <p:sp>
        <p:nvSpPr>
          <p:cNvPr id="23" name="Shape 20"/>
          <p:cNvSpPr/>
          <p:nvPr/>
        </p:nvSpPr>
        <p:spPr>
          <a:xfrm>
            <a:off x="1065600" y="8366400"/>
            <a:ext cx="10108800" cy="2556000"/>
          </a:xfrm>
          <a:prstGeom prst="roundRect">
            <a:avLst>
              <a:gd name="adj" fmla="val 1127"/>
            </a:avLst>
          </a:prstGeom>
          <a:solidFill>
            <a:srgbClr val="EAF7EE">
              <a:alpha val="82000"/>
            </a:srgbClr>
          </a:solidFill>
          <a:ln w="11430">
            <a:solidFill>
              <a:srgbClr val="D5DDE8"/>
            </a:solidFill>
            <a:prstDash val="solid"/>
          </a:ln>
        </p:spPr>
        <p:txBody>
          <a:bodyPr/>
          <a:lstStyle/>
          <a:p>
            <a:endParaRPr lang="zh-CN" altLang="en-US"/>
          </a:p>
        </p:txBody>
      </p:sp>
      <p:sp>
        <p:nvSpPr>
          <p:cNvPr id="24" name="Text 21"/>
          <p:cNvSpPr/>
          <p:nvPr/>
        </p:nvSpPr>
        <p:spPr>
          <a:xfrm>
            <a:off x="1224000" y="8481600"/>
            <a:ext cx="9792000" cy="259200"/>
          </a:xfrm>
          <a:prstGeom prst="rect">
            <a:avLst/>
          </a:prstGeom>
          <a:noFill/>
          <a:ln/>
        </p:spPr>
        <p:txBody>
          <a:bodyPr wrap="square" lIns="0" tIns="0" rIns="0" bIns="0" rtlCol="0" anchor="ctr"/>
          <a:lstStyle/>
          <a:p>
            <a:pPr marL="0" indent="0">
              <a:buNone/>
            </a:pPr>
            <a:r>
              <a:rPr lang="en-US" sz="2800" b="1" dirty="0">
                <a:solidFill>
                  <a:srgbClr val="6B7280"/>
                </a:solidFill>
                <a:latin typeface="Arial" pitchFamily="34" charset="0"/>
                <a:ea typeface="Arial" pitchFamily="34" charset="-122"/>
                <a:cs typeface="Arial" pitchFamily="34" charset="-120"/>
              </a:rPr>
              <a:t>Key contributions</a:t>
            </a:r>
            <a:endParaRPr lang="en-US" sz="2800" dirty="0"/>
          </a:p>
        </p:txBody>
      </p:sp>
      <p:sp>
        <p:nvSpPr>
          <p:cNvPr id="25" name="Text 22"/>
          <p:cNvSpPr/>
          <p:nvPr/>
        </p:nvSpPr>
        <p:spPr>
          <a:xfrm>
            <a:off x="1224000" y="8740800"/>
            <a:ext cx="9792000" cy="2080800"/>
          </a:xfrm>
          <a:prstGeom prst="rect">
            <a:avLst/>
          </a:prstGeom>
          <a:noFill/>
          <a:ln/>
        </p:spPr>
        <p:txBody>
          <a:bodyPr wrap="square" lIns="50800" tIns="381" rIns="50800" bIns="381" rtlCol="0" anchor="ctr">
            <a:spAutoFit/>
          </a:bodyPr>
          <a:lstStyle/>
          <a:p>
            <a:pPr algn="l"/>
            <a:r>
              <a:rPr sz="1200"/>
              <a:t>C1 Task: three-way verdict {valid / invalid / unidentifiable} with structured refusal | C2 Benchmark contract: 12 graph families, public/gold partition, persuasion overlay, OOD buckets | C3 Reference verifier: Parser -&gt; Ledger -&gt; Countermodel -&gt; Tools with fixed decision rule</a:t>
            </a:r>
          </a:p>
        </p:txBody>
      </p:sp>
      <p:sp>
        <p:nvSpPr>
          <p:cNvPr id="26" name="Shape 23"/>
          <p:cNvSpPr/>
          <p:nvPr/>
        </p:nvSpPr>
        <p:spPr>
          <a:xfrm>
            <a:off x="792000" y="11664000"/>
            <a:ext cx="10656000" cy="6336000"/>
          </a:xfrm>
          <a:prstGeom prst="roundRect">
            <a:avLst>
              <a:gd name="adj" fmla="val 909"/>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27" name="Shape 24"/>
          <p:cNvSpPr/>
          <p:nvPr/>
        </p:nvSpPr>
        <p:spPr>
          <a:xfrm>
            <a:off x="972000" y="11865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28" name="Text 25"/>
          <p:cNvSpPr/>
          <p:nvPr/>
        </p:nvSpPr>
        <p:spPr>
          <a:xfrm>
            <a:off x="1137600" y="11901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2. Method Overview</a:t>
            </a:r>
            <a:endParaRPr lang="en-US" sz="3200" dirty="0"/>
          </a:p>
        </p:txBody>
      </p:sp>
      <p:sp>
        <p:nvSpPr>
          <p:cNvPr id="29" name="Text 26"/>
          <p:cNvSpPr/>
          <p:nvPr/>
        </p:nvSpPr>
        <p:spPr>
          <a:xfrm>
            <a:off x="1080000" y="12456000"/>
            <a:ext cx="10080000" cy="1044000"/>
          </a:xfrm>
          <a:prstGeom prst="rect">
            <a:avLst/>
          </a:prstGeom>
          <a:noFill/>
          <a:ln/>
        </p:spPr>
        <p:txBody>
          <a:bodyPr wrap="square" lIns="50800" tIns="1016" rIns="50800" bIns="1016" rtlCol="0" anchor="t">
            <a:spAutoFit/>
          </a:bodyPr>
          <a:lstStyle/>
          <a:p>
            <a:pPr algn="l"/>
            <a:r>
              <a:rPr sz="1200"/>
              <a:t>Four stages turn a public claim into a selective verdict. Parser + ledger surface identifying assumptions; countermodel search tests whether public evidence admits incompatible SCMs; tools are supporting evidence rather than an oracle answer channel.</a:t>
            </a:r>
          </a:p>
        </p:txBody>
      </p:sp>
      <p:sp>
        <p:nvSpPr>
          <p:cNvPr id="30" name="Shape 27"/>
          <p:cNvSpPr/>
          <p:nvPr/>
        </p:nvSpPr>
        <p:spPr>
          <a:xfrm>
            <a:off x="1065600" y="13824000"/>
            <a:ext cx="10108800" cy="3528000"/>
          </a:xfrm>
          <a:prstGeom prst="roundRect">
            <a:avLst>
              <a:gd name="adj" fmla="val 684"/>
            </a:avLst>
          </a:prstGeom>
          <a:solidFill>
            <a:srgbClr val="FFFFFF"/>
          </a:solidFill>
          <a:ln w="15240">
            <a:solidFill>
              <a:srgbClr val="5B8DEF"/>
            </a:solidFill>
            <a:prstDash val="solid"/>
          </a:ln>
        </p:spPr>
        <p:txBody>
          <a:bodyPr/>
          <a:lstStyle/>
          <a:p>
            <a:endParaRPr lang="zh-CN" altLang="en-US"/>
          </a:p>
        </p:txBody>
      </p:sp>
      <p:sp>
        <p:nvSpPr>
          <p:cNvPr id="32" name="Shape 29"/>
          <p:cNvSpPr/>
          <p:nvPr/>
        </p:nvSpPr>
        <p:spPr>
          <a:xfrm>
            <a:off x="792000" y="18324000"/>
            <a:ext cx="10656000" cy="6624000"/>
          </a:xfrm>
          <a:prstGeom prst="roundRect">
            <a:avLst>
              <a:gd name="adj" fmla="val 870"/>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33" name="Shape 30"/>
          <p:cNvSpPr/>
          <p:nvPr/>
        </p:nvSpPr>
        <p:spPr>
          <a:xfrm>
            <a:off x="972000" y="18525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34" name="Text 31"/>
          <p:cNvSpPr/>
          <p:nvPr/>
        </p:nvSpPr>
        <p:spPr>
          <a:xfrm>
            <a:off x="1137600" y="18561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3. Contract / Setup</a:t>
            </a:r>
            <a:endParaRPr lang="en-US" sz="3200" dirty="0"/>
          </a:p>
        </p:txBody>
      </p:sp>
      <p:sp>
        <p:nvSpPr>
          <p:cNvPr id="35" name="Shape 32"/>
          <p:cNvSpPr/>
          <p:nvPr/>
        </p:nvSpPr>
        <p:spPr>
          <a:xfrm>
            <a:off x="1065600" y="19240632"/>
            <a:ext cx="10108800" cy="5148000"/>
          </a:xfrm>
          <a:prstGeom prst="roundRect">
            <a:avLst>
              <a:gd name="adj" fmla="val 559"/>
            </a:avLst>
          </a:prstGeom>
          <a:solidFill>
            <a:srgbClr val="FFF8E6">
              <a:alpha val="82000"/>
            </a:srgbClr>
          </a:solidFill>
          <a:ln w="11430">
            <a:solidFill>
              <a:srgbClr val="D5DDE8"/>
            </a:solidFill>
            <a:prstDash val="solid"/>
          </a:ln>
        </p:spPr>
        <p:txBody>
          <a:bodyPr/>
          <a:lstStyle/>
          <a:p>
            <a:endParaRPr lang="zh-CN" altLang="en-US"/>
          </a:p>
        </p:txBody>
      </p:sp>
      <p:sp>
        <p:nvSpPr>
          <p:cNvPr id="36" name="Text 33"/>
          <p:cNvSpPr/>
          <p:nvPr/>
        </p:nvSpPr>
        <p:spPr>
          <a:xfrm>
            <a:off x="1224000" y="19355832"/>
            <a:ext cx="9792000" cy="259200"/>
          </a:xfrm>
          <a:prstGeom prst="rect">
            <a:avLst/>
          </a:prstGeom>
          <a:noFill/>
          <a:ln/>
        </p:spPr>
        <p:txBody>
          <a:bodyPr wrap="square" lIns="0" tIns="0" rIns="0" bIns="0" rtlCol="0" anchor="ctr">
            <a:normAutofit/>
          </a:bodyPr>
          <a:lstStyle/>
          <a:p>
            <a:pPr marL="0" indent="0">
              <a:spcAft>
                <a:spcPts val="300"/>
              </a:spcAft>
              <a:buNone/>
            </a:pPr>
            <a:r>
              <a:rPr sz="1600" b="1"/>
              <a:t>Public / Gold Contract</a:t>
            </a:r>
            <a:endParaRPr lang="en-US" sz="2800" dirty="0"/>
          </a:p>
        </p:txBody>
      </p:sp>
      <p:sp>
        <p:nvSpPr>
          <p:cNvPr id="37" name="Text 34"/>
          <p:cNvSpPr/>
          <p:nvPr/>
        </p:nvSpPr>
        <p:spPr>
          <a:xfrm>
            <a:off x="1224000" y="19615032"/>
            <a:ext cx="9792000" cy="4672800"/>
          </a:xfrm>
          <a:prstGeom prst="rect">
            <a:avLst/>
          </a:prstGeom>
          <a:noFill/>
          <a:ln/>
        </p:spPr>
        <p:txBody>
          <a:bodyPr wrap="square" lIns="50800" tIns="300" rIns="50800" bIns="300" rtlCol="0" anchor="t">
            <a:spAutoFit/>
          </a:bodyPr>
          <a:lstStyle/>
          <a:p>
            <a:pPr algn="l"/>
            <a:r>
              <a:rPr sz="1200"/>
              <a:t>Attacker -&gt; gold SCM + full data | Verifier -&gt; public scenario + claim only | Evaluator -&gt; gold + verifier outputs | Verdict -&gt; valid / invalid / unidentifiable | Extras -&gt; refusal reason + witness + evidence gap | Leakage control -&gt; protocol-violating control must inflate scores | OOD -&gt; graph / mechanism / attack / context / paired-flip</a:t>
            </a:r>
          </a:p>
        </p:txBody>
      </p:sp>
      <p:sp>
        <p:nvSpPr>
          <p:cNvPr id="38" name="Shape 35"/>
          <p:cNvSpPr/>
          <p:nvPr/>
        </p:nvSpPr>
        <p:spPr>
          <a:xfrm>
            <a:off x="11952000" y="3996000"/>
            <a:ext cx="10656000" cy="21405600"/>
          </a:xfrm>
          <a:prstGeom prst="roundRect">
            <a:avLst>
              <a:gd name="adj" fmla="val 571"/>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39" name="Shape 36"/>
          <p:cNvSpPr/>
          <p:nvPr/>
        </p:nvSpPr>
        <p:spPr>
          <a:xfrm>
            <a:off x="1213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40" name="Text 37"/>
          <p:cNvSpPr/>
          <p:nvPr/>
        </p:nvSpPr>
        <p:spPr>
          <a:xfrm>
            <a:off x="12297600" y="4233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4. Main Technical Details</a:t>
            </a:r>
            <a:endParaRPr lang="en-US" sz="3200" dirty="0"/>
          </a:p>
        </p:txBody>
      </p:sp>
      <p:sp>
        <p:nvSpPr>
          <p:cNvPr id="41" name="Text 38"/>
          <p:cNvSpPr/>
          <p:nvPr/>
        </p:nvSpPr>
        <p:spPr>
          <a:xfrm>
            <a:off x="12240000" y="4788000"/>
            <a:ext cx="10080000" cy="1008000"/>
          </a:xfrm>
          <a:prstGeom prst="rect">
            <a:avLst/>
          </a:prstGeom>
          <a:noFill/>
          <a:ln/>
        </p:spPr>
        <p:txBody>
          <a:bodyPr wrap="square" lIns="50800" tIns="1016" rIns="50800" bIns="1016" rtlCol="0" anchor="t">
            <a:spAutoFit/>
          </a:bodyPr>
          <a:lstStyle/>
          <a:p>
            <a:pPr algn="l"/>
            <a:r>
              <a:rPr sz="1200"/>
              <a:t>The third label is essential. Pearl's hierarchy implies that public observational evidence can underdetermine interventional or counterfactual truth, so some public-view causal claims must be refused with a structured reason.</a:t>
            </a:r>
          </a:p>
        </p:txBody>
      </p:sp>
      <p:sp>
        <p:nvSpPr>
          <p:cNvPr id="42" name="Shape 39"/>
          <p:cNvSpPr/>
          <p:nvPr/>
        </p:nvSpPr>
        <p:spPr>
          <a:xfrm>
            <a:off x="12225600" y="5965200"/>
            <a:ext cx="10108800" cy="1548000"/>
          </a:xfrm>
          <a:prstGeom prst="roundRect">
            <a:avLst>
              <a:gd name="adj" fmla="val 1860"/>
            </a:avLst>
          </a:prstGeom>
          <a:solidFill>
            <a:srgbClr val="EAF2FF">
              <a:alpha val="92000"/>
            </a:srgbClr>
          </a:solidFill>
          <a:ln w="12700">
            <a:solidFill>
              <a:srgbClr val="5B8DEF"/>
            </a:solidFill>
            <a:prstDash val="solid"/>
          </a:ln>
        </p:spPr>
        <p:txBody>
          <a:bodyPr/>
          <a:lstStyle/>
          <a:p>
            <a:endParaRPr lang="zh-CN" altLang="en-US"/>
          </a:p>
        </p:txBody>
      </p:sp>
      <p:sp>
        <p:nvSpPr>
          <p:cNvPr id="43" name="Text 40"/>
          <p:cNvSpPr/>
          <p:nvPr/>
        </p:nvSpPr>
        <p:spPr>
          <a:xfrm>
            <a:off x="12455937" y="6394994"/>
            <a:ext cx="9648000" cy="720000"/>
          </a:xfrm>
          <a:prstGeom prst="rect">
            <a:avLst/>
          </a:prstGeom>
          <a:noFill/>
          <a:ln/>
        </p:spPr>
        <p:txBody>
          <a:bodyPr wrap="square" lIns="0" tIns="0" rIns="0" bIns="0" rtlCol="0" anchor="ctr">
            <a:spAutoFit/>
          </a:bodyPr>
          <a:lstStyle/>
          <a:p>
            <a:pPr marL="0" indent="0" algn="ctr">
              <a:spcAft>
                <a:spcPts val="300"/>
              </a:spcAft>
              <a:buNone/>
            </a:pPr>
            <a:r>
              <a:rPr sz="2000" b="1"/>
              <a:t>Proposition 1 (Abstention Necessity). If SCMs M1, M2 both induce public evidence E but disagree on target query q, then any verifier without an unidentifiable output is wrong on at least one of M1, M2.</a:t>
            </a:r>
            <a:endParaRPr lang="en-US" sz="2600" dirty="0"/>
          </a:p>
        </p:txBody>
      </p:sp>
      <p:sp>
        <p:nvSpPr>
          <p:cNvPr id="44" name="Shape 41"/>
          <p:cNvSpPr/>
          <p:nvPr/>
        </p:nvSpPr>
        <p:spPr>
          <a:xfrm>
            <a:off x="12225600" y="7670323"/>
            <a:ext cx="10108800" cy="2988000"/>
          </a:xfrm>
          <a:prstGeom prst="roundRect">
            <a:avLst>
              <a:gd name="adj" fmla="val 964"/>
            </a:avLst>
          </a:prstGeom>
          <a:solidFill>
            <a:srgbClr val="EAF7EE">
              <a:alpha val="82000"/>
            </a:srgbClr>
          </a:solidFill>
          <a:ln w="11430">
            <a:solidFill>
              <a:srgbClr val="D5DDE8"/>
            </a:solidFill>
            <a:prstDash val="solid"/>
          </a:ln>
        </p:spPr>
        <p:txBody>
          <a:bodyPr/>
          <a:lstStyle/>
          <a:p>
            <a:endParaRPr lang="zh-CN" altLang="en-US"/>
          </a:p>
        </p:txBody>
      </p:sp>
      <p:sp>
        <p:nvSpPr>
          <p:cNvPr id="45" name="Text 42"/>
          <p:cNvSpPr/>
          <p:nvPr/>
        </p:nvSpPr>
        <p:spPr>
          <a:xfrm>
            <a:off x="12384000" y="7786685"/>
            <a:ext cx="9792000" cy="259200"/>
          </a:xfrm>
          <a:prstGeom prst="rect">
            <a:avLst/>
          </a:prstGeom>
          <a:noFill/>
          <a:ln/>
        </p:spPr>
        <p:txBody>
          <a:bodyPr wrap="square" lIns="0" tIns="0" rIns="0" bIns="0" rtlCol="0" anchor="ctr"/>
          <a:lstStyle/>
          <a:p>
            <a:pPr marL="0" indent="0">
              <a:buNone/>
            </a:pPr>
            <a:r>
              <a:rPr lang="en-US" sz="2800" b="1" dirty="0">
                <a:solidFill>
                  <a:srgbClr val="6B7280"/>
                </a:solidFill>
                <a:latin typeface="Arial" pitchFamily="34" charset="0"/>
                <a:ea typeface="Arial" pitchFamily="34" charset="-122"/>
                <a:cs typeface="Arial" pitchFamily="34" charset="-120"/>
              </a:rPr>
              <a:t>Interpretation</a:t>
            </a:r>
            <a:endParaRPr lang="en-US" sz="2800" dirty="0"/>
          </a:p>
        </p:txBody>
      </p:sp>
      <p:sp>
        <p:nvSpPr>
          <p:cNvPr id="46" name="Text 43"/>
          <p:cNvSpPr/>
          <p:nvPr/>
        </p:nvSpPr>
        <p:spPr>
          <a:xfrm>
            <a:off x="12384000" y="8048788"/>
            <a:ext cx="9792000" cy="2512800"/>
          </a:xfrm>
          <a:prstGeom prst="rect">
            <a:avLst/>
          </a:prstGeom>
          <a:noFill/>
          <a:ln/>
        </p:spPr>
        <p:txBody>
          <a:bodyPr wrap="square" lIns="50800" tIns="381" rIns="50800" bIns="381" rtlCol="0" anchor="ctr">
            <a:spAutoFit/>
          </a:bodyPr>
          <a:lstStyle/>
          <a:p>
            <a:pPr algn="l"/>
            <a:r>
              <a:rPr sz="1200"/>
              <a:t>Guarantee: yes/no-only verifiers must fail on observationally equivalent cases | Mechanism: countermodel + ledger separate invalid from unidentifiable | Output: refusal returns a reason plus a missing-information spec</a:t>
            </a:r>
          </a:p>
        </p:txBody>
      </p:sp>
      <p:sp>
        <p:nvSpPr>
          <p:cNvPr id="47" name="Shape 44"/>
          <p:cNvSpPr/>
          <p:nvPr/>
        </p:nvSpPr>
        <p:spPr>
          <a:xfrm>
            <a:off x="12225600" y="10764000"/>
            <a:ext cx="10108800" cy="6400800"/>
          </a:xfrm>
          <a:prstGeom prst="roundRect">
            <a:avLst>
              <a:gd name="adj" fmla="val 1176"/>
            </a:avLst>
          </a:prstGeom>
          <a:solidFill>
            <a:srgbClr val="FFFFFF"/>
          </a:solidFill>
          <a:ln w="11430">
            <a:solidFill>
              <a:srgbClr val="D5DDE8"/>
            </a:solidFill>
            <a:prstDash val="solid"/>
          </a:ln>
        </p:spPr>
        <p:txBody>
          <a:bodyPr/>
          <a:lstStyle/>
          <a:p>
            <a:endParaRPr lang="zh-CN" altLang="en-US"/>
          </a:p>
        </p:txBody>
      </p:sp>
      <p:sp>
        <p:nvSpPr>
          <p:cNvPr id="48" name="Text 45"/>
          <p:cNvSpPr/>
          <p:nvPr/>
        </p:nvSpPr>
        <p:spPr>
          <a:xfrm>
            <a:off x="12528000" y="11592000"/>
            <a:ext cx="9504000" cy="5943600"/>
          </a:xfrm>
          <a:prstGeom prst="rect">
            <a:avLst/>
          </a:prstGeom>
          <a:noFill/>
          <a:ln/>
        </p:spPr>
        <p:txBody>
          <a:bodyPr wrap="square" lIns="0" tIns="0" rIns="0" bIns="0" rtlCol="0" anchor="ctr">
            <a:noAutofit/>
          </a:bodyPr>
          <a:lstStyle/>
          <a:p>
            <a:pPr>
              <a:spcAft>
                <a:spcPts val="300"/>
              </a:spcAft>
            </a:pPr>
            <a:r>
              <a:rPr sz="2400" b="1"/>
              <a:t>Decision rule (fixed five-branch order):</a:t>
            </a:r>
          </a:p>
          <a:p>
            <a:pPr>
              <a:spcAft>
                <a:spcPts val="300"/>
              </a:spcAft>
            </a:pPr>
            <a:r>
              <a:rPr sz="2400"/>
              <a:t>1. strong invalid countermodel -&gt; INVALID</a:t>
            </a:r>
          </a:p>
          <a:p>
            <a:pPr>
              <a:spcAft>
                <a:spcPts val="300"/>
              </a:spcAft>
            </a:pPr>
            <a:r>
              <a:rPr sz="2400"/>
              <a:t>2. compatible models, disagree on q -&gt; UNIDENTIFIABLE (observational_equivalence)</a:t>
            </a:r>
          </a:p>
          <a:p>
            <a:pPr>
              <a:spcAft>
                <a:spcPts val="300"/>
              </a:spcAft>
            </a:pPr>
            <a:r>
              <a:rPr sz="2400"/>
              <a:t>3a. assumption contradicted by tools -&gt; INVALID</a:t>
            </a:r>
          </a:p>
          <a:p>
            <a:pPr>
              <a:spcAft>
                <a:spcPts val="300"/>
              </a:spcAft>
            </a:pPr>
            <a:r>
              <a:rPr sz="2400"/>
              <a:t>3b. ID assumption unsupported -&gt; UNIDENTIFIABLE (missing_identifying_support)</a:t>
            </a:r>
          </a:p>
          <a:p>
            <a:pPr>
              <a:spcAft>
                <a:spcPts val="300"/>
              </a:spcAft>
            </a:pPr>
            <a:r>
              <a:rPr sz="2400"/>
              <a:t>4. tools + ledger jointly support -&gt; VALID</a:t>
            </a:r>
          </a:p>
        </p:txBody>
      </p:sp>
      <p:sp>
        <p:nvSpPr>
          <p:cNvPr id="64" name="Shape 61"/>
          <p:cNvSpPr/>
          <p:nvPr/>
        </p:nvSpPr>
        <p:spPr>
          <a:xfrm>
            <a:off x="23112000" y="3996000"/>
            <a:ext cx="10656000" cy="21405600"/>
          </a:xfrm>
          <a:prstGeom prst="roundRect">
            <a:avLst>
              <a:gd name="adj" fmla="val 637"/>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65" name="Shape 62"/>
          <p:cNvSpPr/>
          <p:nvPr/>
        </p:nvSpPr>
        <p:spPr>
          <a:xfrm>
            <a:off x="2329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66" name="Text 63"/>
          <p:cNvSpPr/>
          <p:nvPr/>
        </p:nvSpPr>
        <p:spPr>
          <a:xfrm>
            <a:off x="23457600" y="4233600"/>
            <a:ext cx="9964800" cy="396000"/>
          </a:xfrm>
          <a:prstGeom prst="rect">
            <a:avLst/>
          </a:prstGeom>
          <a:noFill/>
          <a:ln/>
        </p:spPr>
        <p:txBody>
          <a:bodyPr wrap="square" lIns="0" tIns="0" rIns="0" bIns="0" rtlCol="0" anchor="ctr"/>
          <a:lstStyle/>
          <a:p>
            <a:r>
              <a:rPr sz="3200" b="1" dirty="0">
                <a:solidFill>
                  <a:srgbClr val="163B6C"/>
                </a:solidFill>
                <a:latin typeface="Arial" pitchFamily="34" charset="0"/>
                <a:cs typeface="Arial" pitchFamily="34" charset="-120"/>
              </a:rPr>
              <a:t>5. Main Results / Examples</a:t>
            </a:r>
          </a:p>
        </p:txBody>
      </p:sp>
      <p:sp>
        <p:nvSpPr>
          <p:cNvPr id="67" name="Text 64"/>
          <p:cNvSpPr/>
          <p:nvPr/>
        </p:nvSpPr>
        <p:spPr>
          <a:xfrm>
            <a:off x="23400000" y="4788000"/>
            <a:ext cx="10080000" cy="1008000"/>
          </a:xfrm>
          <a:prstGeom prst="rect">
            <a:avLst/>
          </a:prstGeom>
          <a:noFill/>
          <a:ln/>
        </p:spPr>
        <p:txBody>
          <a:bodyPr wrap="square" lIns="50800" tIns="1016" rIns="50800" bIns="1016" rtlCol="0" anchor="t">
            <a:spAutoFit/>
          </a:bodyPr>
          <a:lstStyle/>
          <a:p>
            <a:pPr algn="l"/>
            <a:r>
              <a:rPr sz="1200"/>
              <a:t>Exploratory fixed-code snapshot: 3 seeds x 10 samples/family, difficulty 0.55. Metrics should be read as contract/reference-verifier evidence, not as final benchmark-release evidence.</a:t>
            </a:r>
          </a:p>
        </p:txBody>
      </p:sp>
      <p:sp>
        <p:nvSpPr>
          <p:cNvPr id="68" name="Shape 65"/>
          <p:cNvSpPr/>
          <p:nvPr/>
        </p:nvSpPr>
        <p:spPr>
          <a:xfrm>
            <a:off x="23385600" y="5796000"/>
            <a:ext cx="10108800" cy="2916000"/>
          </a:xfrm>
          <a:prstGeom prst="roundRect">
            <a:avLst>
              <a:gd name="adj" fmla="val 988"/>
            </a:avLst>
          </a:prstGeom>
          <a:solidFill>
            <a:srgbClr val="FFFFFF"/>
          </a:solidFill>
          <a:ln w="15240">
            <a:solidFill>
              <a:srgbClr val="5B8DEF"/>
            </a:solidFill>
            <a:prstDash val="solid"/>
          </a:ln>
        </p:spPr>
        <p:txBody>
          <a:bodyPr/>
          <a:lstStyle/>
          <a:p>
            <a:endParaRPr lang="zh-CN" altLang="en-US"/>
          </a:p>
        </p:txBody>
      </p:sp>
      <p:sp>
        <p:nvSpPr>
          <p:cNvPr id="70" name="Shape 67"/>
          <p:cNvSpPr/>
          <p:nvPr/>
        </p:nvSpPr>
        <p:spPr>
          <a:xfrm>
            <a:off x="23385600" y="8964000"/>
            <a:ext cx="10108800" cy="3276000"/>
          </a:xfrm>
          <a:prstGeom prst="roundRect">
            <a:avLst>
              <a:gd name="adj" fmla="val 879"/>
            </a:avLst>
          </a:prstGeom>
          <a:solidFill>
            <a:srgbClr val="FFF8E6">
              <a:alpha val="82000"/>
            </a:srgbClr>
          </a:solidFill>
          <a:ln w="11430">
            <a:solidFill>
              <a:srgbClr val="D5DDE8"/>
            </a:solidFill>
            <a:prstDash val="solid"/>
          </a:ln>
        </p:spPr>
        <p:txBody>
          <a:bodyPr/>
          <a:lstStyle/>
          <a:p>
            <a:endParaRPr lang="zh-CN" altLang="en-US"/>
          </a:p>
        </p:txBody>
      </p:sp>
      <p:sp>
        <p:nvSpPr>
          <p:cNvPr id="71" name="Text 68"/>
          <p:cNvSpPr/>
          <p:nvPr/>
        </p:nvSpPr>
        <p:spPr>
          <a:xfrm>
            <a:off x="23544000" y="9079200"/>
            <a:ext cx="9792000" cy="259200"/>
          </a:xfrm>
          <a:prstGeom prst="rect">
            <a:avLst/>
          </a:prstGeom>
          <a:noFill/>
          <a:ln/>
        </p:spPr>
        <p:txBody>
          <a:bodyPr wrap="square" lIns="0" tIns="0" rIns="0" bIns="0" rtlCol="0" anchor="ctr">
            <a:normAutofit/>
          </a:bodyPr>
          <a:lstStyle/>
          <a:p>
            <a:pPr marL="0" indent="0">
              <a:spcAft>
                <a:spcPts val="300"/>
              </a:spcAft>
              <a:buNone/>
            </a:pPr>
            <a:r>
              <a:rPr sz="1600" b="1"/>
              <a:t>Result summary</a:t>
            </a:r>
            <a:endParaRPr lang="en-US" sz="2800" dirty="0"/>
          </a:p>
        </p:txBody>
      </p:sp>
      <p:sp>
        <p:nvSpPr>
          <p:cNvPr id="72" name="Text 69"/>
          <p:cNvSpPr/>
          <p:nvPr/>
        </p:nvSpPr>
        <p:spPr>
          <a:xfrm>
            <a:off x="23544000" y="9338400"/>
            <a:ext cx="9792000" cy="2800800"/>
          </a:xfrm>
          <a:prstGeom prst="rect">
            <a:avLst/>
          </a:prstGeom>
          <a:noFill/>
          <a:ln/>
        </p:spPr>
        <p:txBody>
          <a:bodyPr wrap="square" lIns="50800" tIns="381" rIns="50800" bIns="381" rtlCol="0" anchor="ctr">
            <a:spAutoFit/>
          </a:bodyPr>
          <a:lstStyle/>
          <a:p>
            <a:pPr algn="l"/>
            <a:r>
              <a:rPr sz="1200"/>
              <a:t>Ours: IID/OOD accuracy 1.00 / 0.89 with 0 unsafe acceptance | Direct Judge: 0.50 / 0.16 and unsafe acceptance 0.89 / 0.97 | No-Abstention: high IID raw accuracy but 0 unidentifiable-awareness</a:t>
            </a:r>
          </a:p>
        </p:txBody>
      </p:sp>
      <p:sp>
        <p:nvSpPr>
          <p:cNvPr id="73" name="Shape 70"/>
          <p:cNvSpPr/>
          <p:nvPr/>
        </p:nvSpPr>
        <p:spPr>
          <a:xfrm>
            <a:off x="23112000" y="13320000"/>
            <a:ext cx="10656000" cy="8229600"/>
          </a:xfrm>
          <a:prstGeom prst="roundRect">
            <a:avLst>
              <a:gd name="adj" fmla="val 914"/>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74" name="Shape 71"/>
          <p:cNvSpPr/>
          <p:nvPr/>
        </p:nvSpPr>
        <p:spPr>
          <a:xfrm>
            <a:off x="23292000" y="13521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75" name="Text 72"/>
          <p:cNvSpPr/>
          <p:nvPr/>
        </p:nvSpPr>
        <p:spPr>
          <a:xfrm>
            <a:off x="23457600" y="13557600"/>
            <a:ext cx="9964800" cy="396000"/>
          </a:xfrm>
          <a:prstGeom prst="rect">
            <a:avLst/>
          </a:prstGeom>
          <a:noFill/>
          <a:ln/>
        </p:spPr>
        <p:txBody>
          <a:bodyPr wrap="square" lIns="0" tIns="0" rIns="0" bIns="0" rtlCol="0" anchor="ctr"/>
          <a:lstStyle/>
          <a:p>
            <a:r>
              <a:rPr lang="en" altLang="zh-CN" sz="3200" b="1" dirty="0">
                <a:solidFill>
                  <a:srgbClr val="163B6C"/>
                </a:solidFill>
                <a:latin typeface="Arial" pitchFamily="34" charset="0"/>
                <a:cs typeface="Arial" pitchFamily="34" charset="-120"/>
              </a:rPr>
              <a:t>Examples</a:t>
            </a:r>
            <a:endParaRPr sz="3200" dirty="0"/>
          </a:p>
        </p:txBody>
      </p:sp>
      <p:sp>
        <p:nvSpPr>
          <p:cNvPr id="76" name="Shape 73"/>
          <p:cNvSpPr/>
          <p:nvPr/>
        </p:nvSpPr>
        <p:spPr>
          <a:xfrm>
            <a:off x="23400000" y="14371200"/>
            <a:ext cx="4968000" cy="4114800"/>
          </a:xfrm>
          <a:prstGeom prst="roundRect">
            <a:avLst>
              <a:gd name="adj" fmla="val 611"/>
            </a:avLst>
          </a:prstGeom>
          <a:solidFill>
            <a:srgbClr val="EAF2FF">
              <a:alpha val="82000"/>
            </a:srgbClr>
          </a:solidFill>
          <a:ln w="11430">
            <a:solidFill>
              <a:srgbClr val="D5DDE8"/>
            </a:solidFill>
            <a:prstDash val="solid"/>
          </a:ln>
        </p:spPr>
        <p:txBody>
          <a:bodyPr/>
          <a:lstStyle/>
          <a:p>
            <a:endParaRPr lang="zh-CN" altLang="en-US"/>
          </a:p>
        </p:txBody>
      </p:sp>
      <p:sp>
        <p:nvSpPr>
          <p:cNvPr id="77" name="Text 74"/>
          <p:cNvSpPr/>
          <p:nvPr/>
        </p:nvSpPr>
        <p:spPr>
          <a:xfrm>
            <a:off x="23544000" y="14495891"/>
            <a:ext cx="4651200" cy="259200"/>
          </a:xfrm>
          <a:prstGeom prst="rect">
            <a:avLst/>
          </a:prstGeom>
          <a:noFill/>
          <a:ln/>
        </p:spPr>
        <p:txBody>
          <a:bodyPr wrap="square" lIns="0" tIns="0" rIns="0" bIns="0" rtlCol="0" anchor="ctr"/>
          <a:lstStyle/>
          <a:p>
            <a:pPr marL="0" indent="0">
              <a:buNone/>
            </a:pPr>
            <a:r>
              <a:rPr lang="en-US" sz="2400" b="1" dirty="0">
                <a:solidFill>
                  <a:srgbClr val="6B7280"/>
                </a:solidFill>
                <a:latin typeface="Arial" pitchFamily="34" charset="0"/>
                <a:ea typeface="Arial" pitchFamily="34" charset="-122"/>
                <a:cs typeface="Arial" pitchFamily="34" charset="-120"/>
              </a:rPr>
              <a:t>Example A</a:t>
            </a:r>
            <a:endParaRPr lang="en-US" sz="2400" dirty="0"/>
          </a:p>
        </p:txBody>
      </p:sp>
      <p:sp>
        <p:nvSpPr>
          <p:cNvPr id="78" name="Text 75"/>
          <p:cNvSpPr/>
          <p:nvPr/>
        </p:nvSpPr>
        <p:spPr>
          <a:xfrm>
            <a:off x="23544000" y="14500800"/>
            <a:ext cx="4651200" cy="3200400"/>
          </a:xfrm>
          <a:prstGeom prst="rect">
            <a:avLst/>
          </a:prstGeom>
          <a:noFill/>
          <a:ln/>
        </p:spPr>
        <p:txBody>
          <a:bodyPr wrap="square" lIns="50800" tIns="381" rIns="50800" bIns="381" rtlCol="0" anchor="ctr">
            <a:noAutofit/>
          </a:bodyPr>
          <a:lstStyle/>
          <a:p>
            <a:pPr algn="l"/>
            <a:r>
              <a:rPr sz="1200"/>
              <a:t>Why third label matters: latent confounding leaves two public-compatible SCMs | Output: counter-SCM disagrees on effect -&gt; UNIDENTIFIABLE + observational_equivalence</a:t>
            </a:r>
          </a:p>
        </p:txBody>
      </p:sp>
      <p:sp>
        <p:nvSpPr>
          <p:cNvPr id="79" name="Shape 76"/>
          <p:cNvSpPr/>
          <p:nvPr/>
        </p:nvSpPr>
        <p:spPr>
          <a:xfrm>
            <a:off x="28526400" y="14371200"/>
            <a:ext cx="4968000" cy="4114800"/>
          </a:xfrm>
          <a:prstGeom prst="roundRect">
            <a:avLst>
              <a:gd name="adj" fmla="val 611"/>
            </a:avLst>
          </a:prstGeom>
          <a:solidFill>
            <a:srgbClr val="EAF7EE">
              <a:alpha val="82000"/>
            </a:srgbClr>
          </a:solidFill>
          <a:ln w="11430">
            <a:solidFill>
              <a:srgbClr val="D5DDE8"/>
            </a:solidFill>
            <a:prstDash val="solid"/>
          </a:ln>
        </p:spPr>
        <p:txBody>
          <a:bodyPr/>
          <a:lstStyle/>
          <a:p>
            <a:endParaRPr lang="zh-CN" altLang="en-US"/>
          </a:p>
        </p:txBody>
      </p:sp>
      <p:sp>
        <p:nvSpPr>
          <p:cNvPr id="80" name="Text 77"/>
          <p:cNvSpPr/>
          <p:nvPr/>
        </p:nvSpPr>
        <p:spPr>
          <a:xfrm>
            <a:off x="28684800" y="14492618"/>
            <a:ext cx="4651200" cy="259200"/>
          </a:xfrm>
          <a:prstGeom prst="rect">
            <a:avLst/>
          </a:prstGeom>
          <a:noFill/>
          <a:ln/>
        </p:spPr>
        <p:txBody>
          <a:bodyPr wrap="square" lIns="0" tIns="0" rIns="0" bIns="0" rtlCol="0" anchor="ctr"/>
          <a:lstStyle/>
          <a:p>
            <a:pPr marL="0" indent="0">
              <a:buNone/>
            </a:pPr>
            <a:r>
              <a:rPr lang="en-US" sz="2400" b="1" dirty="0">
                <a:solidFill>
                  <a:srgbClr val="6B7280"/>
                </a:solidFill>
                <a:latin typeface="Arial" pitchFamily="34" charset="0"/>
                <a:ea typeface="Arial" pitchFamily="34" charset="-122"/>
                <a:cs typeface="Arial" pitchFamily="34" charset="-120"/>
              </a:rPr>
              <a:t>Example B</a:t>
            </a:r>
            <a:endParaRPr lang="en-US" sz="2400" dirty="0"/>
          </a:p>
        </p:txBody>
      </p:sp>
      <p:sp>
        <p:nvSpPr>
          <p:cNvPr id="81" name="Text 78"/>
          <p:cNvSpPr/>
          <p:nvPr/>
        </p:nvSpPr>
        <p:spPr>
          <a:xfrm>
            <a:off x="28684800" y="14500800"/>
            <a:ext cx="4651200" cy="3200400"/>
          </a:xfrm>
          <a:prstGeom prst="rect">
            <a:avLst/>
          </a:prstGeom>
          <a:noFill/>
          <a:ln/>
        </p:spPr>
        <p:txBody>
          <a:bodyPr wrap="square" lIns="50800" tIns="381" rIns="50800" bIns="381" rtlCol="0" anchor="ctr">
            <a:noAutofit/>
          </a:bodyPr>
          <a:lstStyle/>
          <a:p>
            <a:pPr algn="l"/>
            <a:r>
              <a:rPr sz="1200"/>
              <a:t>Why partition matters: a protocol-violating leakage control reaches 1.00 / 1.00 | Clean public verifier: 0.58 / 0.84 | Effect: score inflation is contamination, not oversight ability</a:t>
            </a:r>
          </a:p>
        </p:txBody>
      </p:sp>
      <p:pic>
        <p:nvPicPr>
          <p:cNvPr id="52" name="图片 51" descr="图片包含 文本&#10;&#10;AI 生成的内容可能不正确。">
            <a:extLst>
              <a:ext uri="{FF2B5EF4-FFF2-40B4-BE49-F238E27FC236}">
                <ns2:creationId id="{A7764834-5861-4AED-68D8-E9BD7FB160CC}"/>
              </a:ext>
            </a:extLst>
          </p:cNvPr>
          <p:cNvPicPr>
            <a:picLocks noChangeAspect="1"/>
          </p:cNvPicPr>
          <p:nvPr/>
        </p:nvPicPr>
        <p:blipFill>
          <a:blip r:embed="rId3"/>
          <a:stretch>
            <a:fillRect/>
          </a:stretch>
        </p:blipFill>
        <p:spPr>
          <a:xfrm>
            <a:off x="27936000" y="1227281"/>
            <a:ext cx="5652000" cy="1533059"/>
          </a:xfrm>
          <a:prstGeom prst="rect">
            <a:avLst/>
          </a:prstGeom>
        </p:spPr>
      </p:pic>
      <p:pic>
        <p:nvPicPr>
          <p:cNvPr id="82" name="Picture 81" descr="method_pipeline.png"/>
          <p:cNvPicPr>
            <a:picLocks noChangeAspect="1"/>
          </p:cNvPicPr>
          <p:nvPr/>
        </p:nvPicPr>
        <p:blipFill>
          <a:blip r:embed="rId4"/>
          <a:stretch>
            <a:fillRect/>
          </a:stretch>
        </p:blipFill>
        <p:spPr>
          <a:xfrm>
            <a:off x="1296000" y="14544000"/>
            <a:ext cx="9648000" cy="3101143"/>
          </a:xfrm>
          <a:prstGeom prst="rect">
            <a:avLst/>
          </a:prstGeom>
        </p:spPr>
      </p:pic>
      <p:graphicFrame>
        <p:nvGraphicFramePr>
          <p:cNvPr id="83" name="Table 82"/>
          <p:cNvGraphicFramePr>
            <a:graphicFrameLocks noGrp="1"/>
          </p:cNvGraphicFramePr>
          <p:nvPr/>
        </p:nvGraphicFramePr>
        <p:xfrm>
          <a:off x="23385600" y="5796000"/>
          <a:ext cx="10108800" cy="2916000"/>
        </p:xfrm>
        <a:graphic>
          <a:graphicData uri="http://schemas.openxmlformats.org/drawingml/2006/table">
            <a:tbl>
              <a:tblPr firstRow="1" bandRow="1">
                <a:tableStyleId>{5C22544A-7EE6-4342-B048-85BDC9FD1C3A}</a:tableStyleId>
              </a:tblPr>
              <a:tblGrid>
                <a:gridCol w="5863104"/>
                <a:gridCol w="2122848"/>
                <a:gridCol w="2122848"/>
              </a:tblGrid>
              <a:tr h="486000">
                <a:tc>
                  <a:txBody>
                    <a:bodyPr/>
                    <a:lstStyle/>
                    <a:p>
                      <a:pPr algn="l"/>
                      <a:r>
                        <a:rPr sz="1200" b="1"/>
                        <a:t>System</a:t>
                      </a:r>
                    </a:p>
                  </a:txBody>
                  <a:tcPr/>
                </a:tc>
                <a:tc>
                  <a:txBody>
                    <a:bodyPr/>
                    <a:lstStyle/>
                    <a:p>
                      <a:pPr algn="ctr"/>
                      <a:r>
                        <a:rPr sz="1200" b="1"/>
                        <a:t>IID Acc</a:t>
                      </a:r>
                    </a:p>
                  </a:txBody>
                  <a:tcPr/>
                </a:tc>
                <a:tc>
                  <a:txBody>
                    <a:bodyPr/>
                    <a:lstStyle/>
                    <a:p>
                      <a:pPr algn="ctr"/>
                      <a:r>
                        <a:rPr sz="1200" b="1"/>
                        <a:t>OOD Acc</a:t>
                      </a:r>
                    </a:p>
                  </a:txBody>
                  <a:tcPr/>
                </a:tc>
              </a:tr>
              <a:tr h="486000">
                <a:tc>
                  <a:txBody>
                    <a:bodyPr/>
                    <a:lstStyle/>
                    <a:p>
                      <a:pPr algn="l"/>
                      <a:r>
                        <a:rPr sz="1200" b="1"/>
                        <a:t>Ours</a:t>
                      </a:r>
                    </a:p>
                  </a:txBody>
                  <a:tcPr/>
                </a:tc>
                <a:tc>
                  <a:txBody>
                    <a:bodyPr/>
                    <a:lstStyle/>
                    <a:p>
                      <a:pPr algn="ctr"/>
                      <a:r>
                        <a:rPr sz="1200" b="1"/>
                        <a:t>1.00</a:t>
                      </a:r>
                    </a:p>
                  </a:txBody>
                  <a:tcPr/>
                </a:tc>
                <a:tc>
                  <a:txBody>
                    <a:bodyPr/>
                    <a:lstStyle/>
                    <a:p>
                      <a:pPr algn="ctr"/>
                      <a:r>
                        <a:rPr sz="1200" b="1"/>
                        <a:t>0.89</a:t>
                      </a:r>
                    </a:p>
                  </a:txBody>
                  <a:tcPr/>
                </a:tc>
              </a:tr>
              <a:tr h="486000">
                <a:tc>
                  <a:txBody>
                    <a:bodyPr/>
                    <a:lstStyle/>
                    <a:p>
                      <a:pPr algn="l"/>
                      <a:r>
                        <a:rPr sz="1200" b="0"/>
                        <a:t>Direct Judge</a:t>
                      </a:r>
                    </a:p>
                  </a:txBody>
                  <a:tcPr/>
                </a:tc>
                <a:tc>
                  <a:txBody>
                    <a:bodyPr/>
                    <a:lstStyle/>
                    <a:p>
                      <a:pPr algn="ctr"/>
                      <a:r>
                        <a:rPr sz="1200" b="0"/>
                        <a:t>0.50</a:t>
                      </a:r>
                    </a:p>
                  </a:txBody>
                  <a:tcPr/>
                </a:tc>
                <a:tc>
                  <a:txBody>
                    <a:bodyPr/>
                    <a:lstStyle/>
                    <a:p>
                      <a:pPr algn="ctr"/>
                      <a:r>
                        <a:rPr sz="1200" b="0"/>
                        <a:t>0.16</a:t>
                      </a:r>
                    </a:p>
                  </a:txBody>
                  <a:tcPr/>
                </a:tc>
              </a:tr>
              <a:tr h="486000">
                <a:tc>
                  <a:txBody>
                    <a:bodyPr/>
                    <a:lstStyle/>
                    <a:p>
                      <a:pPr algn="l"/>
                      <a:r>
                        <a:rPr sz="1200" b="0"/>
                        <a:t>CoT Judge</a:t>
                      </a:r>
                    </a:p>
                  </a:txBody>
                  <a:tcPr/>
                </a:tc>
                <a:tc>
                  <a:txBody>
                    <a:bodyPr/>
                    <a:lstStyle/>
                    <a:p>
                      <a:pPr algn="ctr"/>
                      <a:r>
                        <a:rPr sz="1200" b="0"/>
                        <a:t>0.32</a:t>
                      </a:r>
                    </a:p>
                  </a:txBody>
                  <a:tcPr/>
                </a:tc>
                <a:tc>
                  <a:txBody>
                    <a:bodyPr/>
                    <a:lstStyle/>
                    <a:p>
                      <a:pPr algn="ctr"/>
                      <a:r>
                        <a:rPr sz="1200" b="0"/>
                        <a:t>0.59</a:t>
                      </a:r>
                    </a:p>
                  </a:txBody>
                  <a:tcPr/>
                </a:tc>
              </a:tr>
              <a:tr h="486000">
                <a:tc>
                  <a:txBody>
                    <a:bodyPr/>
                    <a:lstStyle/>
                    <a:p>
                      <a:pPr algn="l"/>
                      <a:r>
                        <a:rPr sz="1200" b="0"/>
                        <a:t>Tool Baseline</a:t>
                      </a:r>
                    </a:p>
                  </a:txBody>
                  <a:tcPr/>
                </a:tc>
                <a:tc>
                  <a:txBody>
                    <a:bodyPr/>
                    <a:lstStyle/>
                    <a:p>
                      <a:pPr algn="ctr"/>
                      <a:r>
                        <a:rPr sz="1200" b="0"/>
                        <a:t>0.54</a:t>
                      </a:r>
                    </a:p>
                  </a:txBody>
                  <a:tcPr/>
                </a:tc>
                <a:tc>
                  <a:txBody>
                    <a:bodyPr/>
                    <a:lstStyle/>
                    <a:p>
                      <a:pPr algn="ctr"/>
                      <a:r>
                        <a:rPr sz="1200" b="0"/>
                        <a:t>0.35</a:t>
                      </a:r>
                    </a:p>
                  </a:txBody>
                  <a:tcPr/>
                </a:tc>
              </a:tr>
              <a:tr h="486000">
                <a:tc>
                  <a:txBody>
                    <a:bodyPr/>
                    <a:lstStyle/>
                    <a:p>
                      <a:pPr algn="l"/>
                      <a:r>
                        <a:rPr sz="1200" b="0"/>
                        <a:t>Refusal-Aware</a:t>
                      </a:r>
                    </a:p>
                  </a:txBody>
                  <a:tcPr/>
                </a:tc>
                <a:tc>
                  <a:txBody>
                    <a:bodyPr/>
                    <a:lstStyle/>
                    <a:p>
                      <a:pPr algn="ctr"/>
                      <a:r>
                        <a:rPr sz="1200" b="0"/>
                        <a:t>0.75</a:t>
                      </a:r>
                    </a:p>
                  </a:txBody>
                  <a:tcPr/>
                </a:tc>
                <a:tc>
                  <a:txBody>
                    <a:bodyPr/>
                    <a:lstStyle/>
                    <a:p>
                      <a:pPr algn="ctr"/>
                      <a:r>
                        <a:rPr sz="1200" b="0"/>
                        <a:t>0.50</a:t>
                      </a:r>
                    </a:p>
                  </a:txBody>
                  <a:tcPr/>
                </a:tc>
              </a:tr>
            </a:tbl>
          </a:graphicData>
        </a:graphic>
      </p:graphicFrame>
      <p:pic>
        <p:nvPicPr>
          <p:cNvPr id="84" name="Picture 83" descr="image.png"/>
          <p:cNvPicPr>
            <a:picLocks noChangeAspect="1"/>
          </p:cNvPicPr>
          <p:nvPr/>
        </p:nvPicPr>
        <p:blipFill>
          <a:blip r:embed="rId5"/>
          <a:stretch>
            <a:fillRect/>
          </a:stretch>
        </p:blipFill>
        <p:spPr>
          <a:xfrm>
            <a:off x="12801600" y="17373600"/>
            <a:ext cx="8229600" cy="3263366"/>
          </a:xfrm>
          <a:prstGeom prst="rect">
            <a:avLst/>
          </a:prstGeom>
        </p:spPr>
      </p:pic>
      <p:pic>
        <p:nvPicPr>
          <p:cNvPr id="87" name="Picture 86" descr="ablation_chart.png"/>
          <p:cNvPicPr>
            <a:picLocks noChangeAspect="1"/>
          </p:cNvPicPr>
          <p:nvPr/>
        </p:nvPicPr>
        <p:blipFill>
          <a:blip r:embed="rId8"/>
          <a:stretch>
            <a:fillRect/>
          </a:stretch>
        </p:blipFill>
        <p:spPr>
          <a:xfrm>
            <a:off x="12344400" y="20819845"/>
            <a:ext cx="9144000" cy="4522286"/>
          </a:xfrm>
          <a:prstGeom prst="rect">
            <a:avLst/>
          </a:prstGeom>
        </p:spPr>
      </p:pic>
      <p:pic>
        <p:nvPicPr>
          <p:cNvPr id="88" name="Picture 87" descr="ood_chart.png"/>
          <p:cNvPicPr>
            <a:picLocks noChangeAspect="1"/>
          </p:cNvPicPr>
          <p:nvPr/>
        </p:nvPicPr>
        <p:blipFill>
          <a:blip r:embed="rId9"/>
          <a:stretch>
            <a:fillRect/>
          </a:stretch>
        </p:blipFill>
        <p:spPr>
          <a:xfrm>
            <a:off x="23317200" y="19202400"/>
            <a:ext cx="10058400" cy="44054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477</Words>
  <Application>Microsoft Macintosh PowerPoint</Application>
  <PresentationFormat>自定义</PresentationFormat>
  <Paragraphs>49</Paragraphs>
  <Slides>1</Slides>
  <Notes>1</Notes>
  <HiddenSlides>0</HiddenSlides>
  <MMClips>0</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1</vt:i4>
      </vt:variant>
    </vt:vector>
  </HeadingPairs>
  <TitlesOfParts>
    <vt:vector size="3" baseType="lpstr">
      <vt:lpstr>Arial</vt:lpstr>
      <vt:lpstr>Office Theme</vt:lpstr>
      <vt:lpstr>PowerPoint 演示文稿</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ICML-style Poster Template</dc:title>
  <dc:subject>ICML-style poster template</dc:subject>
  <dc:creator>OpenAI</dc:creator>
  <cp:lastModifiedBy>Yi He</cp:lastModifiedBy>
  <cp:revision>4</cp:revision>
  <dcterms:created xsi:type="dcterms:W3CDTF">2026-04-02T02:46:53Z</dcterms:created>
  <dcterms:modified xsi:type="dcterms:W3CDTF">2026-04-02T04:02:24Z</dcterms:modified>
</cp:coreProperties>
</file>