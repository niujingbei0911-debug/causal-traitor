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00" cy="749808"/>
          </a:xfrm>
          <a:prstGeom prst="rect">
            <a:avLst/>
          </a:prstGeom>
          <a:solidFill>
            <a:srgbClr val="F5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09728"/>
            <a:ext cx="7955279" cy="347472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r>
              <a:rPr sz="2700" b="1">
                <a:solidFill>
                  <a:srgbClr val="1F2328"/>
                </a:solidFill>
                <a:latin typeface="Aptos"/>
              </a:rPr>
              <a:t>Selective Adversarial Causal Oversight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38912" y="475488"/>
            <a:ext cx="7955279" cy="219456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r>
              <a:rPr sz="1300" b="0">
                <a:solidFill>
                  <a:srgbClr val="5B636E"/>
                </a:solidFill>
                <a:latin typeface="Aptos"/>
              </a:rPr>
              <a:t>Information-partitioned benchmark contract + countermodel-grounded verifier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0" y="164592"/>
            <a:ext cx="4480560" cy="219456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r"/>
            <a:r>
              <a:rPr sz="1200" b="0">
                <a:solidFill>
                  <a:srgbClr val="1F2328"/>
                </a:solidFill>
                <a:latin typeface="Aptos"/>
              </a:rPr>
              <a:t>Jingbei Niu   Zeyuan Tong   Yuhang Li | Zhejiang University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475488"/>
            <a:ext cx="6035040" cy="20116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r"/>
            <a:r>
              <a:rPr sz="900" b="0">
                <a:solidFill>
                  <a:srgbClr val="5B636E"/>
                </a:solidFill>
                <a:latin typeface="Aptos"/>
              </a:rPr>
              <a:t>Fixed-code exploratory snapshot | seeds=[0, 1, 2] | 10 samples/family | difficulty=0.55 | error bars: 95% CI over seed means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960120"/>
            <a:ext cx="4251960" cy="22860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r>
              <a:rPr sz="1600" b="1">
                <a:solidFill>
                  <a:srgbClr val="145388"/>
                </a:solidFill>
                <a:latin typeface="Aptos"/>
              </a:rPr>
              <a:t>Task &amp; Contract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216152"/>
            <a:ext cx="4251960" cy="13716"/>
          </a:xfrm>
          <a:prstGeom prst="rect">
            <a:avLst/>
          </a:prstGeom>
          <a:solidFill>
            <a:srgbClr val="145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25880"/>
            <a:ext cx="4069080" cy="914400"/>
          </a:xfrm>
          <a:prstGeom prst="rect">
            <a:avLst/>
          </a:prstGeom>
          <a:noFill/>
        </p:spPr>
        <p:txBody>
          <a:bodyPr wrap="none" lIns="45720" rIns="45720" tIns="18288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F2328"/>
                </a:solidFill>
                <a:latin typeface="Aptos"/>
              </a:defRPr>
            </a:pPr>
            <a:r>
              <a:t>Verifier sees public scenario + claim only.</a:t>
            </a:r>
          </a:p>
          <a:p>
            <a:pPr>
              <a:spcAft>
                <a:spcPts val="400"/>
              </a:spcAft>
              <a:defRPr sz="1300">
                <a:solidFill>
                  <a:srgbClr val="1F2328"/>
                </a:solidFill>
                <a:latin typeface="Aptos"/>
              </a:defRPr>
            </a:pPr>
            <a:r>
              <a:t>Gold SCM, labels, hidden variables stay evaluator-only.</a:t>
            </a:r>
          </a:p>
          <a:p>
            <a:pPr>
              <a:spcAft>
                <a:spcPts val="400"/>
              </a:spcAft>
              <a:defRPr sz="1300">
                <a:solidFill>
                  <a:srgbClr val="1F2328"/>
                </a:solidFill>
                <a:latin typeface="Aptos"/>
              </a:defRPr>
            </a:pPr>
            <a:r>
              <a:t>Verdict space: VALID / INVALID / UNIDENTIFIABLE.</a:t>
            </a:r>
          </a:p>
          <a:p>
            <a:pPr>
              <a:spcAft>
                <a:spcPts val="400"/>
              </a:spcAft>
              <a:defRPr sz="1300">
                <a:solidFill>
                  <a:srgbClr val="1F2328"/>
                </a:solidFill>
                <a:latin typeface="Aptos"/>
              </a:defRPr>
            </a:pPr>
            <a:r>
              <a:t>Score includes unsafe acceptance and wise refusal.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31720"/>
            <a:ext cx="4251960" cy="1234440"/>
          </a:xfrm>
          <a:prstGeom prst="roundRect">
            <a:avLst/>
          </a:prstGeom>
          <a:solidFill>
            <a:srgbClr val="FAFCFF"/>
          </a:solidFill>
          <a:ln w="9525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487168"/>
            <a:ext cx="1554480" cy="20116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r>
              <a:rPr sz="1300" b="1">
                <a:solidFill>
                  <a:srgbClr val="145388"/>
                </a:solidFill>
                <a:latin typeface="Aptos"/>
              </a:rPr>
              <a:t>Generated Case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43200"/>
            <a:ext cx="3886200" cy="658368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r>
              <a:rPr sz="1100" b="0">
                <a:solidFill>
                  <a:srgbClr val="1F2328"/>
                </a:solidFill>
                <a:latin typeface="Aptos"/>
              </a:rPr>
              <a:t>Claim: observed association between therapy_flag and yield_score is enough for a causal conclusion.
Correct label: UNIDENTIFIABLE, because public evidence leaves reverse causality/confounding open.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3840480"/>
            <a:ext cx="4251960" cy="22860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r>
              <a:rPr sz="1600" b="1">
                <a:solidFill>
                  <a:srgbClr val="145388"/>
                </a:solidFill>
                <a:latin typeface="Aptos"/>
              </a:rPr>
              <a:t>Reference Verifier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4096512"/>
            <a:ext cx="4251960" cy="13716"/>
          </a:xfrm>
          <a:prstGeom prst="rect">
            <a:avLst/>
          </a:prstGeom>
          <a:solidFill>
            <a:srgbClr val="145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4206240"/>
            <a:ext cx="4160520" cy="960120"/>
          </a:xfrm>
          <a:prstGeom prst="rect">
            <a:avLst/>
          </a:prstGeom>
          <a:noFill/>
        </p:spPr>
        <p:txBody>
          <a:bodyPr wrap="none" lIns="45720" rIns="45720" tIns="18288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F2328"/>
                </a:solidFill>
                <a:latin typeface="Aptos"/>
              </a:defRPr>
            </a:pPr>
            <a:r>
              <a:t>Parse claim -&gt; build identifying-assumption ledger.</a:t>
            </a:r>
          </a:p>
          <a:p>
            <a:pPr>
              <a:spcAft>
                <a:spcPts val="400"/>
              </a:spcAft>
              <a:defRPr sz="1300">
                <a:solidFill>
                  <a:srgbClr val="1F2328"/>
                </a:solidFill>
                <a:latin typeface="Aptos"/>
              </a:defRPr>
            </a:pPr>
            <a:r>
              <a:t>Search public-compatible counter-SCMs.</a:t>
            </a:r>
          </a:p>
          <a:p>
            <a:pPr>
              <a:spcAft>
                <a:spcPts val="400"/>
              </a:spcAft>
              <a:defRPr sz="1300">
                <a:solidFill>
                  <a:srgbClr val="1F2328"/>
                </a:solidFill>
                <a:latin typeface="Aptos"/>
              </a:defRPr>
            </a:pPr>
            <a:r>
              <a:t>Run Pearl-style tools as supporting evidence.</a:t>
            </a:r>
          </a:p>
          <a:p>
            <a:pPr>
              <a:spcAft>
                <a:spcPts val="400"/>
              </a:spcAft>
              <a:defRPr sz="1300">
                <a:solidFill>
                  <a:srgbClr val="1F2328"/>
                </a:solidFill>
                <a:latin typeface="Aptos"/>
              </a:defRPr>
            </a:pPr>
            <a:r>
              <a:t>Return verdict + refusal reason + witness.</a:t>
            </a:r>
          </a:p>
        </p:txBody>
      </p:sp>
      <p:pic>
        <p:nvPicPr>
          <p:cNvPr id="16" name="Picture 15" descr="method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5349240"/>
            <a:ext cx="4251960" cy="1366701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983480" y="960120"/>
            <a:ext cx="4572000" cy="22860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r>
              <a:rPr sz="1600" b="1">
                <a:solidFill>
                  <a:srgbClr val="145388"/>
                </a:solidFill>
                <a:latin typeface="Aptos"/>
              </a:rPr>
              <a:t>Main Result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983480" y="1216152"/>
            <a:ext cx="4572000" cy="13716"/>
          </a:xfrm>
          <a:prstGeom prst="rect">
            <a:avLst/>
          </a:prstGeom>
          <a:solidFill>
            <a:srgbClr val="145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main_char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298448"/>
            <a:ext cx="4800600" cy="24688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029200" y="4096512"/>
            <a:ext cx="4434840" cy="777240"/>
          </a:xfrm>
          <a:prstGeom prst="rect">
            <a:avLst/>
          </a:prstGeom>
          <a:noFill/>
        </p:spPr>
        <p:txBody>
          <a:bodyPr wrap="none" lIns="45720" rIns="45720" tIns="18288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1F2328"/>
                </a:solidFill>
                <a:latin typeface="Aptos"/>
              </a:defRPr>
            </a:pPr>
            <a:r>
              <a:t>Ours: OOD acc 0.891, unsafe accept 0.000.</a:t>
            </a:r>
          </a:p>
          <a:p>
            <a:pPr>
              <a:spcAft>
                <a:spcPts val="400"/>
              </a:spcAft>
              <a:defRPr sz="1200">
                <a:solidFill>
                  <a:srgbClr val="1F2328"/>
                </a:solidFill>
                <a:latin typeface="Aptos"/>
              </a:defRPr>
            </a:pPr>
            <a:r>
              <a:t>Direct Judge: OOD acc 0.161, unsafe accept 0.970.</a:t>
            </a:r>
          </a:p>
          <a:p>
            <a:pPr>
              <a:spcAft>
                <a:spcPts val="400"/>
              </a:spcAft>
              <a:defRPr sz="1200">
                <a:solidFill>
                  <a:srgbClr val="1F2328"/>
                </a:solidFill>
                <a:latin typeface="Aptos"/>
              </a:defRPr>
            </a:pPr>
            <a:r>
              <a:t>Interpretation: the main signal is the accuracy/refusal tradeoff, not a final benchmark claim.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80" y="5166360"/>
            <a:ext cx="4572000" cy="22860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r>
              <a:rPr sz="1600" b="1">
                <a:solidFill>
                  <a:srgbClr val="145388"/>
                </a:solidFill>
                <a:latin typeface="Aptos"/>
              </a:rPr>
              <a:t>Ablation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83480" y="5422392"/>
            <a:ext cx="4572000" cy="13716"/>
          </a:xfrm>
          <a:prstGeom prst="rect">
            <a:avLst/>
          </a:prstGeom>
          <a:solidFill>
            <a:srgbClr val="145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ablation_ch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5486400"/>
            <a:ext cx="4800600" cy="24688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921240" y="960120"/>
            <a:ext cx="4297680" cy="22860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r>
              <a:rPr sz="1600" b="1">
                <a:solidFill>
                  <a:srgbClr val="145388"/>
                </a:solidFill>
                <a:latin typeface="Aptos"/>
              </a:rPr>
              <a:t>OOD Stress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21240" y="1216152"/>
            <a:ext cx="4297680" cy="13716"/>
          </a:xfrm>
          <a:prstGeom prst="rect">
            <a:avLst/>
          </a:prstGeom>
          <a:solidFill>
            <a:srgbClr val="145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ood_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0" y="1298448"/>
            <a:ext cx="4572000" cy="235131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10012680" y="4096512"/>
            <a:ext cx="3977639" cy="640080"/>
          </a:xfrm>
          <a:prstGeom prst="rect">
            <a:avLst/>
          </a:prstGeom>
          <a:noFill/>
        </p:spPr>
        <p:txBody>
          <a:bodyPr wrap="none" lIns="45720" rIns="45720" tIns="18288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1F2328"/>
                </a:solidFill>
                <a:latin typeface="Aptos"/>
              </a:defRPr>
            </a:pPr>
            <a:r>
              <a:t>Paired-flip is the clearest current failure slice: acc 0.439.</a:t>
            </a:r>
          </a:p>
          <a:p>
            <a:pPr>
              <a:spcAft>
                <a:spcPts val="400"/>
              </a:spcAft>
              <a:defRPr sz="1200">
                <a:solidFill>
                  <a:srgbClr val="1F2328"/>
                </a:solidFill>
                <a:latin typeface="Aptos"/>
              </a:defRPr>
            </a:pPr>
            <a:r>
              <a:t>Graph/mechanism buckets are saturated in this small snapshot.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921240" y="5074920"/>
            <a:ext cx="4297680" cy="228600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r>
              <a:rPr sz="1600" b="1">
                <a:solidFill>
                  <a:srgbClr val="145388"/>
                </a:solidFill>
                <a:latin typeface="Aptos"/>
              </a:rPr>
              <a:t>Validity Gates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921240" y="5330952"/>
            <a:ext cx="4297680" cy="13716"/>
          </a:xfrm>
          <a:prstGeom prst="rect">
            <a:avLst/>
          </a:prstGeom>
          <a:solidFill>
            <a:srgbClr val="1453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921240" y="5440680"/>
            <a:ext cx="4297680" cy="2176272"/>
          </a:xfrm>
          <a:prstGeom prst="roundRect">
            <a:avLst/>
          </a:prstGeom>
          <a:solidFill>
            <a:srgbClr val="FAFCFF"/>
          </a:solidFill>
          <a:ln w="9525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04120" y="5596128"/>
            <a:ext cx="4023360" cy="1828800"/>
          </a:xfrm>
          <a:prstGeom prst="rect">
            <a:avLst/>
          </a:prstGeom>
          <a:noFill/>
        </p:spPr>
        <p:txBody>
          <a:bodyPr wrap="none" lIns="45720" rIns="45720" tIns="18288">
            <a:spAutoFit/>
          </a:bodyPr>
          <a:lstStyle/>
          <a:p>
            <a:pPr>
              <a:spcAft>
                <a:spcPts val="400"/>
              </a:spcAft>
              <a:defRPr sz="900">
                <a:solidFill>
                  <a:srgbClr val="1F2328"/>
                </a:solidFill>
                <a:latin typeface="Aptos"/>
              </a:defRPr>
            </a:pPr>
            <a:r>
              <a:t>Leakage control: oracle-positive reaches 1.000/1.000; score gain is contamination.</a:t>
            </a:r>
          </a:p>
          <a:p>
            <a:pPr>
              <a:spcAft>
                <a:spcPts val="400"/>
              </a:spcAft>
              <a:defRPr sz="900">
                <a:solidFill>
                  <a:srgbClr val="1F2328"/>
                </a:solidFill>
                <a:latin typeface="Aptos"/>
              </a:defRPr>
            </a:pPr>
            <a:r>
              <a:t>API smoke: qwen2.5-7b, IID n=9/OOD n=12, raw response, fallback=0; full matrix pending.</a:t>
            </a:r>
          </a:p>
          <a:p>
            <a:pPr>
              <a:spcAft>
                <a:spcPts val="400"/>
              </a:spcAft>
              <a:defRPr sz="900">
                <a:solidFill>
                  <a:srgbClr val="1F2328"/>
                </a:solidFill>
                <a:latin typeface="Aptos"/>
              </a:defRPr>
            </a:pPr>
            <a:r>
              <a:t>Human audit: dual annotation pending; no real-grounded headline.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7818120"/>
            <a:ext cx="13807440" cy="219456"/>
          </a:xfrm>
          <a:prstGeom prst="rect">
            <a:avLst/>
          </a:prstGeom>
          <a:noFill/>
        </p:spPr>
        <p:txBody>
          <a:bodyPr wrap="none" lIns="36576" rIns="36576" tIns="18288" bIns="18288" anchor="t">
            <a:spAutoFit/>
          </a:bodyPr>
          <a:lstStyle/>
          <a:p>
            <a:pPr algn="ctr"/>
            <a:r>
              <a:rPr sz="900" b="0">
                <a:solidFill>
                  <a:srgbClr val="5B636E"/>
                </a:solidFill>
                <a:latin typeface="Aptos"/>
              </a:rPr>
              <a:t>Manifest: outputs/paper_facing/manifest.json | API smoke: 2026-05-07T16:51:48Z | Poster generated from frozen JSON artifacts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