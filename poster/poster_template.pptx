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34559875" cy="25920700"/>
  <p:notesSz cx="32918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3A69"/>
    <a:srgbClr val="182A58"/>
    <a:srgbClr val="163B6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97"/>
    <p:restoredTop sz="94610"/>
  </p:normalViewPr>
  <p:slideViewPr>
    <p:cSldViewPr snapToGrid="0" snapToObjects="1">
      <p:cViewPr>
        <p:scale>
          <a:sx n="38" d="100"/>
          <a:sy n="38" d="100"/>
        </p:scale>
        <p:origin x="73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0895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ICML official poster instructions list suggested main-conference poster sizes of 36 x 48, 36 x 60, and 36 x 72 inches; this template uses 36 x 48 inches as a practical default. https://icml.cc/Conferences/2025/PosterInstructions
- ICML 2026 downloads page states the ICML logo may be used on presentations, but this template intentionally avoids embedding official branding so the user can add it selectively. https://icml.cc/Downloads/2026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ns2="http://schemas.microsoft.com/office/drawing/2014/main" xmlns:p="http://schemas.openxmlformats.org/presentationml/2006/main" xmlns:r="http://schemas.openxmlformats.org/officeDocument/2006/relationships">
  <p:cSld name="Slide 1">
    <p:bg>
      <p:bgPr>
        <a:solidFill>
          <a:srgbClr val="F7F9FC"/>
        </a:solidFill>
        <a:effectLst/>
      </p:bgPr>
    </p:bg>
    <p:spTree>
      <p:nvGrpSpPr>
        <p:cNvPr id="1" name=""/>
        <p:cNvGrpSpPr/>
        <p:nvPr/>
      </p:nvGrpSpPr>
      <p:grpSpPr>
        <a:xfrm>
          <a:off x="0" y="0"/>
          <a:ext cx="0" cy="0"/>
          <a:chOff x="0" y="0"/>
          <a:chExt cx="0" cy="0"/>
        </a:xfrm>
      </p:grpSpPr>
      <p:sp>
        <p:nvSpPr>
          <p:cNvPr id="3" name="Shape 0"/>
          <p:cNvSpPr/>
          <p:nvPr/>
        </p:nvSpPr>
        <p:spPr>
          <a:xfrm>
            <a:off x="0" y="0"/>
            <a:ext cx="34560000" cy="25920000"/>
          </a:xfrm>
          <a:prstGeom prst="rect">
            <a:avLst/>
          </a:prstGeom>
          <a:solidFill>
            <a:srgbClr val="F7F9FC"/>
          </a:solidFill>
          <a:ln w="12700">
            <a:solidFill>
              <a:srgbClr val="F7F9FC"/>
            </a:solidFill>
            <a:prstDash val="solid"/>
          </a:ln>
        </p:spPr>
        <p:txBody>
          <a:bodyPr/>
          <a:lstStyle/>
          <a:p>
            <a:endParaRPr lang="zh-CN" altLang="en-US"/>
          </a:p>
        </p:txBody>
      </p:sp>
      <p:sp>
        <p:nvSpPr>
          <p:cNvPr id="4" name="Shape 1"/>
          <p:cNvSpPr/>
          <p:nvPr/>
        </p:nvSpPr>
        <p:spPr>
          <a:xfrm>
            <a:off x="0" y="0"/>
            <a:ext cx="34560000" cy="828000"/>
          </a:xfrm>
          <a:prstGeom prst="rect">
            <a:avLst/>
          </a:prstGeom>
          <a:solidFill>
            <a:srgbClr val="163B6C"/>
          </a:solidFill>
          <a:ln w="12700">
            <a:solidFill>
              <a:srgbClr val="163B6C"/>
            </a:solidFill>
            <a:prstDash val="solid"/>
          </a:ln>
        </p:spPr>
        <p:txBody>
          <a:bodyPr/>
          <a:lstStyle/>
          <a:p>
            <a:endParaRPr lang="zh-CN" altLang="en-US"/>
          </a:p>
        </p:txBody>
      </p:sp>
      <p:sp>
        <p:nvSpPr>
          <p:cNvPr id="5" name="Shape 2"/>
          <p:cNvSpPr/>
          <p:nvPr/>
        </p:nvSpPr>
        <p:spPr>
          <a:xfrm>
            <a:off x="0" y="25452000"/>
            <a:ext cx="34560000" cy="468000"/>
          </a:xfrm>
          <a:prstGeom prst="rect">
            <a:avLst/>
          </a:prstGeom>
          <a:solidFill>
            <a:srgbClr val="163B6C"/>
          </a:solidFill>
          <a:ln w="12700">
            <a:solidFill>
              <a:srgbClr val="163B6C"/>
            </a:solidFill>
            <a:prstDash val="solid"/>
          </a:ln>
        </p:spPr>
        <p:txBody>
          <a:bodyPr/>
          <a:lstStyle/>
          <a:p>
            <a:endParaRPr lang="zh-CN" altLang="en-US"/>
          </a:p>
        </p:txBody>
      </p:sp>
      <p:sp>
        <p:nvSpPr>
          <p:cNvPr id="6" name="Shape 3"/>
          <p:cNvSpPr/>
          <p:nvPr/>
        </p:nvSpPr>
        <p:spPr>
          <a:xfrm>
            <a:off x="792000" y="828000"/>
            <a:ext cx="32976000" cy="2808000"/>
          </a:xfrm>
          <a:prstGeom prst="roundRect">
            <a:avLst>
              <a:gd name="adj" fmla="val 2564"/>
            </a:avLst>
          </a:prstGeom>
          <a:solidFill>
            <a:srgbClr val="FFFFFF"/>
          </a:solidFill>
          <a:ln w="1524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7" name="Text 4"/>
          <p:cNvSpPr/>
          <p:nvPr/>
        </p:nvSpPr>
        <p:spPr>
          <a:xfrm>
            <a:off x="1188000" y="1116000"/>
            <a:ext cx="25632000" cy="828000"/>
          </a:xfrm>
          <a:prstGeom prst="rect">
            <a:avLst/>
          </a:prstGeom>
          <a:noFill/>
          <a:ln/>
        </p:spPr>
        <p:txBody>
          <a:bodyPr wrap="square" lIns="0" tIns="0" rIns="0" bIns="0" rtlCol="0" anchor="ctr">
            <a:normAutofit/>
          </a:bodyPr>
          <a:lstStyle/>
          <a:p>
            <a:pPr marL="0" indent="0">
              <a:spcAft>
                <a:spcPts val="300"/>
              </a:spcAft>
              <a:buNone/>
            </a:pPr>
            <a:r>
              <a:rPr sz="3400" b="1"/>
              <a:t>Selective Adversarial Causal Oversight: A Leakage-Free Benchmark and Countermodel-Grounded Verifier under Information Asymmetry</a:t>
            </a:r>
            <a:endParaRPr lang="en-US" sz="6000" dirty="0"/>
          </a:p>
        </p:txBody>
      </p:sp>
      <p:sp>
        <p:nvSpPr>
          <p:cNvPr id="8" name="Text 5"/>
          <p:cNvSpPr/>
          <p:nvPr/>
        </p:nvSpPr>
        <p:spPr>
          <a:xfrm>
            <a:off x="1238400" y="2016000"/>
            <a:ext cx="17640000" cy="360000"/>
          </a:xfrm>
          <a:prstGeom prst="rect">
            <a:avLst/>
          </a:prstGeom>
          <a:noFill/>
          <a:ln/>
        </p:spPr>
        <p:txBody>
          <a:bodyPr wrap="none" lIns="0" tIns="0" rIns="0" bIns="0" rtlCol="0" anchor="ctr">
            <a:noAutofit/>
          </a:bodyPr>
          <a:lstStyle/>
          <a:p>
            <a:pPr marL="0" indent="0">
              <a:spcAft>
                <a:spcPts val="300"/>
              </a:spcAft>
              <a:buNone/>
            </a:pPr>
            <a:r>
              <a:rPr sz="2300"/>
              <a:t>Jingbei Niu   Zeyuan Tong   Yuhang Li</a:t>
            </a:r>
            <a:endParaRPr lang="en-US" sz="3200" dirty="0"/>
          </a:p>
        </p:txBody>
      </p:sp>
      <p:sp>
        <p:nvSpPr>
          <p:cNvPr id="9" name="Text 6"/>
          <p:cNvSpPr/>
          <p:nvPr/>
        </p:nvSpPr>
        <p:spPr>
          <a:xfrm>
            <a:off x="1238400" y="2487724"/>
            <a:ext cx="20520000" cy="316800"/>
          </a:xfrm>
          <a:prstGeom prst="rect">
            <a:avLst/>
          </a:prstGeom>
          <a:noFill/>
          <a:ln/>
        </p:spPr>
        <p:txBody>
          <a:bodyPr wrap="square" lIns="0" tIns="0" rIns="0" bIns="0" rtlCol="0" anchor="ctr">
            <a:normAutofit/>
          </a:bodyPr>
          <a:lstStyle/>
          <a:p>
            <a:pPr marL="0" indent="0">
              <a:spcAft>
                <a:spcPts val="300"/>
              </a:spcAft>
              <a:buNone/>
            </a:pPr>
            <a:r>
              <a:rPr sz="1800"/>
              <a:t>Course project - Causal Reasoning - Spring-Summer 2026</a:t>
            </a:r>
            <a:endParaRPr lang="en-US" sz="2400" dirty="0"/>
          </a:p>
        </p:txBody>
      </p:sp>
      <p:sp>
        <p:nvSpPr>
          <p:cNvPr id="10" name="Text 7"/>
          <p:cNvSpPr/>
          <p:nvPr/>
        </p:nvSpPr>
        <p:spPr>
          <a:xfrm>
            <a:off x="1238400" y="2838786"/>
            <a:ext cx="14400000" cy="244800"/>
          </a:xfrm>
          <a:prstGeom prst="rect">
            <a:avLst/>
          </a:prstGeom>
          <a:noFill/>
          <a:ln/>
        </p:spPr>
        <p:txBody>
          <a:bodyPr wrap="square" lIns="0" tIns="0" rIns="0" bIns="0" rtlCol="0" anchor="ctr">
            <a:normAutofit/>
          </a:bodyPr>
          <a:lstStyle/>
          <a:p>
            <a:pPr marL="0" indent="0">
              <a:buNone/>
            </a:pPr>
            <a:endParaRPr lang="en-US" sz="2000" dirty="0"/>
          </a:p>
        </p:txBody>
      </p:sp>
      <p:sp>
        <p:nvSpPr>
          <p:cNvPr id="16" name="Shape 13"/>
          <p:cNvSpPr/>
          <p:nvPr/>
        </p:nvSpPr>
        <p:spPr>
          <a:xfrm>
            <a:off x="792000" y="3996000"/>
            <a:ext cx="10656000" cy="7344000"/>
          </a:xfrm>
          <a:prstGeom prst="roundRect">
            <a:avLst>
              <a:gd name="adj" fmla="val 784"/>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17" name="Shape 14"/>
          <p:cNvSpPr/>
          <p:nvPr/>
        </p:nvSpPr>
        <p:spPr>
          <a:xfrm>
            <a:off x="97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18" name="Text 15"/>
          <p:cNvSpPr/>
          <p:nvPr/>
        </p:nvSpPr>
        <p:spPr>
          <a:xfrm>
            <a:off x="1137600" y="4233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1. Motivation &amp; Abstract</a:t>
            </a:r>
            <a:endParaRPr lang="en-US" sz="3200" dirty="0"/>
          </a:p>
        </p:txBody>
      </p:sp>
      <p:sp>
        <p:nvSpPr>
          <p:cNvPr id="19" name="Text 16"/>
          <p:cNvSpPr/>
          <p:nvPr/>
        </p:nvSpPr>
        <p:spPr>
          <a:xfrm>
            <a:off x="1080000" y="4788000"/>
            <a:ext cx="10080000" cy="1836000"/>
          </a:xfrm>
          <a:prstGeom prst="rect">
            <a:avLst/>
          </a:prstGeom>
          <a:noFill/>
          <a:ln/>
        </p:spPr>
        <p:txBody>
          <a:bodyPr wrap="square" lIns="1016" tIns="1016" rIns="1016" bIns="1016" rtlCol="0" anchor="t">
            <a:spAutoFit/>
          </a:bodyPr>
          <a:lstStyle/>
          <a:p>
            <a:pPr marL="0" indent="0" algn="l">
              <a:lnSpc>
                <a:spcPct val="108000"/>
              </a:lnSpc>
              <a:spcAft>
                <a:spcPts val="300"/>
              </a:spcAft>
              <a:buNone/>
            </a:pPr>
            <a:r>
              <a:rPr sz="2000"/>
              <a:t>Causal claim oversight is hard because the claimant may know more than the verifier. Under public evidence alone, some claims are valid, some are invalid, and some are genuinely unidentifiable. Existing benchmarks often leak oracle metadata or force a yes/no answer. We instead formalize selective adversarial causal oversight, build a leakage-free benchmark, and evaluate a countermodel-grounded verifier.</a:t>
            </a:r>
            <a:endParaRPr lang="en-US" sz="2400" dirty="0"/>
          </a:p>
        </p:txBody>
      </p:sp>
      <p:sp>
        <p:nvSpPr>
          <p:cNvPr id="20" name="Shape 17"/>
          <p:cNvSpPr/>
          <p:nvPr/>
        </p:nvSpPr>
        <p:spPr>
          <a:xfrm>
            <a:off x="1065600" y="6732000"/>
            <a:ext cx="10108800" cy="1440000"/>
          </a:xfrm>
          <a:prstGeom prst="roundRect">
            <a:avLst>
              <a:gd name="adj" fmla="val 2000"/>
            </a:avLst>
          </a:prstGeom>
          <a:solidFill>
            <a:srgbClr val="EAF2FF">
              <a:alpha val="82000"/>
            </a:srgbClr>
          </a:solidFill>
          <a:ln w="11430">
            <a:solidFill>
              <a:srgbClr val="D5DDE8"/>
            </a:solidFill>
            <a:prstDash val="solid"/>
          </a:ln>
        </p:spPr>
        <p:txBody>
          <a:bodyPr/>
          <a:lstStyle/>
          <a:p>
            <a:endParaRPr lang="zh-CN" altLang="en-US"/>
          </a:p>
        </p:txBody>
      </p:sp>
      <p:sp>
        <p:nvSpPr>
          <p:cNvPr id="21" name="Text 18"/>
          <p:cNvSpPr/>
          <p:nvPr/>
        </p:nvSpPr>
        <p:spPr>
          <a:xfrm>
            <a:off x="1224000" y="6847200"/>
            <a:ext cx="9792000" cy="259200"/>
          </a:xfrm>
          <a:prstGeom prst="rect">
            <a:avLst/>
          </a:prstGeom>
          <a:noFill/>
          <a:ln/>
        </p:spPr>
        <p:txBody>
          <a:bodyPr wrap="square" lIns="0" tIns="0" rIns="0" bIns="0" rtlCol="0" anchor="ctr">
            <a:normAutofit/>
          </a:bodyPr>
          <a:lstStyle/>
          <a:p>
            <a:pPr marL="0" indent="0">
              <a:spcAft>
                <a:spcPts val="300"/>
              </a:spcAft>
              <a:buNone/>
            </a:pPr>
            <a:r>
              <a:rPr sz="1600" b="1"/>
              <a:t>At a glance</a:t>
            </a:r>
            <a:endParaRPr lang="en-US" sz="2400" dirty="0"/>
          </a:p>
        </p:txBody>
      </p:sp>
      <p:sp>
        <p:nvSpPr>
          <p:cNvPr id="22" name="Text 19"/>
          <p:cNvSpPr/>
          <p:nvPr/>
        </p:nvSpPr>
        <p:spPr>
          <a:xfrm>
            <a:off x="1224000" y="7106400"/>
            <a:ext cx="9792000" cy="964800"/>
          </a:xfrm>
          <a:prstGeom prst="rect">
            <a:avLst/>
          </a:prstGeom>
          <a:noFill/>
          <a:ln/>
        </p:spPr>
        <p:txBody>
          <a:bodyPr wrap="square" lIns="381" tIns="381" rIns="381" bIns="381" rtlCol="0" anchor="ctr">
            <a:spAutoFit/>
          </a:bodyPr>
          <a:lstStyle/>
          <a:p>
            <a:pPr marL="152400" indent="-152400">
              <a:spcAft>
                <a:spcPts val="300"/>
              </a:spcAft>
              <a:buSzPct val="100000"/>
              <a:buChar char="•"/>
            </a:pPr>
            <a:r>
              <a:rPr sz="1800"/>
              <a:t>Hook: causal oversight is public-view verification under private information</a:t>
            </a:r>
            <a:endParaRPr lang="en-US" sz="2400" dirty="0"/>
          </a:p>
          <a:p>
            <a:pPr marL="152400" indent="-152400">
              <a:spcAft>
                <a:spcPts val="300"/>
              </a:spcAft>
              <a:buSzPct val="100000"/>
              <a:buChar char="•"/>
            </a:pPr>
            <a:r>
              <a:rPr sz="1800"/>
              <a:t>Problem: yes/no judges over-accept; leaked metadata can fake competence</a:t>
            </a:r>
            <a:endParaRPr lang="en-US" sz="2400" dirty="0"/>
          </a:p>
          <a:p>
            <a:pPr marL="152400" indent="-152400">
              <a:spcAft>
                <a:spcPts val="300"/>
              </a:spcAft>
              <a:buSzPct val="100000"/>
              <a:buChar char="•"/>
            </a:pPr>
            <a:r>
              <a:rPr sz="1800"/>
              <a:t>Answer: leakage-free benchmark + countermodel-grounded verifier</a:t>
            </a:r>
            <a:endParaRPr lang="en-US" sz="2400" dirty="0"/>
          </a:p>
        </p:txBody>
      </p:sp>
      <p:sp>
        <p:nvSpPr>
          <p:cNvPr id="23" name="Shape 20"/>
          <p:cNvSpPr/>
          <p:nvPr/>
        </p:nvSpPr>
        <p:spPr>
          <a:xfrm>
            <a:off x="1065600" y="8366400"/>
            <a:ext cx="10108800" cy="2556000"/>
          </a:xfrm>
          <a:prstGeom prst="roundRect">
            <a:avLst>
              <a:gd name="adj" fmla="val 1127"/>
            </a:avLst>
          </a:prstGeom>
          <a:solidFill>
            <a:srgbClr val="EAF7EE">
              <a:alpha val="82000"/>
            </a:srgbClr>
          </a:solidFill>
          <a:ln w="11430">
            <a:solidFill>
              <a:srgbClr val="D5DDE8"/>
            </a:solidFill>
            <a:prstDash val="solid"/>
          </a:ln>
        </p:spPr>
        <p:txBody>
          <a:bodyPr/>
          <a:lstStyle/>
          <a:p>
            <a:endParaRPr lang="zh-CN" altLang="en-US"/>
          </a:p>
        </p:txBody>
      </p:sp>
      <p:sp>
        <p:nvSpPr>
          <p:cNvPr id="24" name="Text 21"/>
          <p:cNvSpPr/>
          <p:nvPr/>
        </p:nvSpPr>
        <p:spPr>
          <a:xfrm>
            <a:off x="1224000" y="8481600"/>
            <a:ext cx="9792000" cy="259200"/>
          </a:xfrm>
          <a:prstGeom prst="rect">
            <a:avLst/>
          </a:prstGeom>
          <a:noFill/>
          <a:ln/>
        </p:spPr>
        <p:txBody>
          <a:bodyPr wrap="square" lIns="0" tIns="0" rIns="0" bIns="0" rtlCol="0" anchor="ctr"/>
          <a:lstStyle/>
          <a:p>
            <a:pPr marL="0" indent="0">
              <a:buNone/>
            </a:pPr>
            <a:r>
              <a:rPr lang="en-US" sz="2800" b="1" dirty="0">
                <a:solidFill>
                  <a:srgbClr val="6B7280"/>
                </a:solidFill>
                <a:latin typeface="Arial" pitchFamily="34" charset="0"/>
                <a:ea typeface="Arial" pitchFamily="34" charset="-122"/>
                <a:cs typeface="Arial" pitchFamily="34" charset="-120"/>
              </a:rPr>
              <a:t>Key contributions</a:t>
            </a:r>
            <a:endParaRPr lang="en-US" sz="2800" dirty="0"/>
          </a:p>
        </p:txBody>
      </p:sp>
      <p:sp>
        <p:nvSpPr>
          <p:cNvPr id="25" name="Text 22"/>
          <p:cNvSpPr/>
          <p:nvPr/>
        </p:nvSpPr>
        <p:spPr>
          <a:xfrm>
            <a:off x="1224000" y="8740800"/>
            <a:ext cx="9792000" cy="2080800"/>
          </a:xfrm>
          <a:prstGeom prst="rect">
            <a:avLst/>
          </a:prstGeom>
          <a:noFill/>
          <a:ln/>
        </p:spPr>
        <p:txBody>
          <a:bodyPr wrap="square" lIns="381" tIns="381" rIns="381" bIns="381" rtlCol="0" anchor="ctr">
            <a:spAutoFit/>
          </a:bodyPr>
          <a:lstStyle/>
          <a:p>
            <a:pPr marL="152400" indent="-152400">
              <a:spcAft>
                <a:spcPts val="300"/>
              </a:spcAft>
              <a:buSzPct val="100000"/>
              <a:buChar char="•"/>
            </a:pPr>
            <a:r>
              <a:rPr sz="1700"/>
              <a:t>C1 Task: three-way verdict {valid / invalid / unidentifiable} with structured refusal</a:t>
            </a:r>
            <a:endParaRPr lang="en-US" sz="2400" dirty="0"/>
          </a:p>
          <a:p>
            <a:pPr marL="152400" indent="-152400">
              <a:spcAft>
                <a:spcPts val="300"/>
              </a:spcAft>
              <a:buSzPct val="100000"/>
              <a:buChar char="•"/>
            </a:pPr>
            <a:r>
              <a:rPr sz="1700"/>
              <a:t>C2 Benchmark: 12 graph families, public/gold partition, persuasion overlay, OOD buckets</a:t>
            </a:r>
            <a:endParaRPr lang="en-US" sz="2400" dirty="0"/>
          </a:p>
          <a:p>
            <a:pPr marL="152400" indent="-152400">
              <a:spcAft>
                <a:spcPts val="300"/>
              </a:spcAft>
              <a:buSzPct val="100000"/>
              <a:buChar char="•"/>
            </a:pPr>
            <a:r>
              <a:rPr sz="1700"/>
              <a:t>C3 Verifier: Parser -&gt; Ledger -&gt; Countermodel -&gt; Tools with fixed decision rule</a:t>
            </a:r>
            <a:endParaRPr lang="en-US" sz="2400" dirty="0"/>
          </a:p>
        </p:txBody>
      </p:sp>
      <p:sp>
        <p:nvSpPr>
          <p:cNvPr id="26" name="Shape 23"/>
          <p:cNvSpPr/>
          <p:nvPr/>
        </p:nvSpPr>
        <p:spPr>
          <a:xfrm>
            <a:off x="792000" y="11664000"/>
            <a:ext cx="10656000" cy="6336000"/>
          </a:xfrm>
          <a:prstGeom prst="roundRect">
            <a:avLst>
              <a:gd name="adj" fmla="val 909"/>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27" name="Shape 24"/>
          <p:cNvSpPr/>
          <p:nvPr/>
        </p:nvSpPr>
        <p:spPr>
          <a:xfrm>
            <a:off x="972000" y="11865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28" name="Text 25"/>
          <p:cNvSpPr/>
          <p:nvPr/>
        </p:nvSpPr>
        <p:spPr>
          <a:xfrm>
            <a:off x="1137600" y="11901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2. Method Overview</a:t>
            </a:r>
            <a:endParaRPr lang="en-US" sz="3200" dirty="0"/>
          </a:p>
        </p:txBody>
      </p:sp>
      <p:sp>
        <p:nvSpPr>
          <p:cNvPr id="29" name="Text 26"/>
          <p:cNvSpPr/>
          <p:nvPr/>
        </p:nvSpPr>
        <p:spPr>
          <a:xfrm>
            <a:off x="1080000" y="12456000"/>
            <a:ext cx="10080000" cy="1044000"/>
          </a:xfrm>
          <a:prstGeom prst="rect">
            <a:avLst/>
          </a:prstGeom>
          <a:noFill/>
          <a:ln/>
        </p:spPr>
        <p:txBody>
          <a:bodyPr wrap="square" lIns="1016" tIns="1016" rIns="1016" bIns="1016" rtlCol="0" anchor="t">
            <a:spAutoFit/>
          </a:bodyPr>
          <a:lstStyle/>
          <a:p>
            <a:pPr marL="0" indent="0" algn="l">
              <a:lnSpc>
                <a:spcPct val="108000"/>
              </a:lnSpc>
              <a:spcAft>
                <a:spcPts val="300"/>
              </a:spcAft>
              <a:buNone/>
            </a:pPr>
            <a:r>
              <a:rPr sz="2000"/>
              <a:t>Four stages turn a claim into a selective verdict. Parser + ledger surface the identifying assumptions; countermodel search tests whether public evidence supports incompatible SCMs; tools are consulted only when no countermodel survives.</a:t>
            </a:r>
            <a:endParaRPr lang="en-US" sz="2400" dirty="0"/>
          </a:p>
        </p:txBody>
      </p:sp>
      <p:sp>
        <p:nvSpPr>
          <p:cNvPr id="30" name="Shape 27"/>
          <p:cNvSpPr/>
          <p:nvPr/>
        </p:nvSpPr>
        <p:spPr>
          <a:xfrm>
            <a:off x="1065600" y="13824000"/>
            <a:ext cx="10108800" cy="3528000"/>
          </a:xfrm>
          <a:prstGeom prst="roundRect">
            <a:avLst>
              <a:gd name="adj" fmla="val 684"/>
            </a:avLst>
          </a:prstGeom>
          <a:solidFill>
            <a:srgbClr val="FFFFFF"/>
          </a:solidFill>
          <a:ln w="15240">
            <a:solidFill>
              <a:srgbClr val="5B8DEF"/>
            </a:solidFill>
            <a:prstDash val="solid"/>
          </a:ln>
        </p:spPr>
        <p:txBody>
          <a:bodyPr/>
          <a:lstStyle/>
          <a:p>
            <a:endParaRPr lang="zh-CN" altLang="en-US"/>
          </a:p>
        </p:txBody>
      </p:sp>
      <p:sp>
        <p:nvSpPr>
          <p:cNvPr id="32" name="Shape 29"/>
          <p:cNvSpPr/>
          <p:nvPr/>
        </p:nvSpPr>
        <p:spPr>
          <a:xfrm>
            <a:off x="792000" y="18324000"/>
            <a:ext cx="10656000" cy="6624000"/>
          </a:xfrm>
          <a:prstGeom prst="roundRect">
            <a:avLst>
              <a:gd name="adj" fmla="val 870"/>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33" name="Shape 30"/>
          <p:cNvSpPr/>
          <p:nvPr/>
        </p:nvSpPr>
        <p:spPr>
          <a:xfrm>
            <a:off x="972000" y="18525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34" name="Text 31"/>
          <p:cNvSpPr/>
          <p:nvPr/>
        </p:nvSpPr>
        <p:spPr>
          <a:xfrm>
            <a:off x="1137600" y="18561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3. Contract / Setup</a:t>
            </a:r>
            <a:endParaRPr lang="en-US" sz="3200" dirty="0"/>
          </a:p>
        </p:txBody>
      </p:sp>
      <p:sp>
        <p:nvSpPr>
          <p:cNvPr id="35" name="Shape 32"/>
          <p:cNvSpPr/>
          <p:nvPr/>
        </p:nvSpPr>
        <p:spPr>
          <a:xfrm>
            <a:off x="1065600" y="19240632"/>
            <a:ext cx="10108800" cy="5148000"/>
          </a:xfrm>
          <a:prstGeom prst="roundRect">
            <a:avLst>
              <a:gd name="adj" fmla="val 559"/>
            </a:avLst>
          </a:prstGeom>
          <a:solidFill>
            <a:srgbClr val="FFF8E6">
              <a:alpha val="82000"/>
            </a:srgbClr>
          </a:solidFill>
          <a:ln w="11430">
            <a:solidFill>
              <a:srgbClr val="D5DDE8"/>
            </a:solidFill>
            <a:prstDash val="solid"/>
          </a:ln>
        </p:spPr>
        <p:txBody>
          <a:bodyPr/>
          <a:lstStyle/>
          <a:p>
            <a:endParaRPr lang="zh-CN" altLang="en-US"/>
          </a:p>
        </p:txBody>
      </p:sp>
      <p:sp>
        <p:nvSpPr>
          <p:cNvPr id="36" name="Text 33"/>
          <p:cNvSpPr/>
          <p:nvPr/>
        </p:nvSpPr>
        <p:spPr>
          <a:xfrm>
            <a:off x="1224000" y="19355832"/>
            <a:ext cx="9792000" cy="259200"/>
          </a:xfrm>
          <a:prstGeom prst="rect">
            <a:avLst/>
          </a:prstGeom>
          <a:noFill/>
          <a:ln/>
        </p:spPr>
        <p:txBody>
          <a:bodyPr wrap="square" lIns="0" tIns="0" rIns="0" bIns="0" rtlCol="0" anchor="ctr">
            <a:normAutofit/>
          </a:bodyPr>
          <a:lstStyle/>
          <a:p>
            <a:pPr marL="0" indent="0">
              <a:spcAft>
                <a:spcPts val="300"/>
              </a:spcAft>
              <a:buNone/>
            </a:pPr>
            <a:r>
              <a:rPr sz="1600" b="1"/>
              <a:t>Public / Gold Contract</a:t>
            </a:r>
            <a:endParaRPr lang="en-US" sz="2800" dirty="0"/>
          </a:p>
        </p:txBody>
      </p:sp>
      <p:sp>
        <p:nvSpPr>
          <p:cNvPr id="37" name="Text 34"/>
          <p:cNvSpPr/>
          <p:nvPr/>
        </p:nvSpPr>
        <p:spPr>
          <a:xfrm>
            <a:off x="1224000" y="19615032"/>
            <a:ext cx="9792000" cy="4672800"/>
          </a:xfrm>
          <a:prstGeom prst="rect">
            <a:avLst/>
          </a:prstGeom>
          <a:noFill/>
          <a:ln/>
        </p:spPr>
        <p:txBody>
          <a:bodyPr wrap="square" lIns="381" tIns="300" rIns="381" bIns="300" rtlCol="0" anchor="t">
            <a:spAutoFit/>
          </a:bodyPr>
          <a:lstStyle/>
          <a:p>
            <a:pPr marL="152400" indent="-152400">
              <a:spcAft>
                <a:spcPts val="280"/>
              </a:spcAft>
              <a:buSzPct val="100000"/>
              <a:buChar char="•"/>
            </a:pPr>
            <a:r>
              <a:rPr sz="1750"/>
              <a:t>Attacker -&gt; gold SCM + full data</a:t>
            </a:r>
            <a:endParaRPr lang="en-US"/>
          </a:p>
          <a:p>
            <a:pPr marL="152400" indent="-152400">
              <a:spcAft>
                <a:spcPts val="280"/>
              </a:spcAft>
              <a:buSzPct val="100000"/>
              <a:buChar char="•"/>
            </a:pPr>
            <a:r>
              <a:rPr sz="1750"/>
              <a:t>Verifier -&gt; public scenario + claim</a:t>
            </a:r>
            <a:endParaRPr lang="en-US"/>
          </a:p>
          <a:p>
            <a:pPr marL="152400" indent="-152400">
              <a:spcAft>
                <a:spcPts val="280"/>
              </a:spcAft>
              <a:buSzPct val="100000"/>
              <a:buChar char="•"/>
            </a:pPr>
            <a:r>
              <a:rPr sz="1750"/>
              <a:t>Evaluator -&gt; gold + verifier outputs</a:t>
            </a:r>
            <a:endParaRPr lang="en-US"/>
          </a:p>
          <a:p>
            <a:pPr marL="152400" indent="-152400">
              <a:spcAft>
                <a:spcPts val="280"/>
              </a:spcAft>
              <a:buSzPct val="100000"/>
              <a:buChar char="•"/>
            </a:pPr>
            <a:r>
              <a:rPr sz="1750"/>
              <a:t>Verdict -&gt; valid / invalid / unidentifiable</a:t>
            </a:r>
            <a:endParaRPr lang="en-US"/>
          </a:p>
          <a:p>
            <a:pPr marL="152400" indent="-152400">
              <a:spcAft>
                <a:spcPts val="280"/>
              </a:spcAft>
              <a:buSzPct val="100000"/>
              <a:buChar char="•"/>
            </a:pPr>
            <a:r>
              <a:rPr sz="1750"/>
              <a:t>Extras -&gt; refusal reason + witness + evidence gap</a:t>
            </a:r>
            <a:endParaRPr lang="en-US"/>
          </a:p>
          <a:p>
            <a:pPr marL="152400" indent="-152400">
              <a:spcAft>
                <a:spcPts val="280"/>
              </a:spcAft>
              <a:buSzPct val="100000"/>
              <a:buChar char="•"/>
            </a:pPr>
            <a:r>
              <a:rPr sz="1750"/>
              <a:t>Leakage control -&gt; gold leaks should help the control</a:t>
            </a:r>
            <a:endParaRPr lang="en-US"/>
          </a:p>
          <a:p>
            <a:pPr marL="152400" indent="-152400">
              <a:spcAft>
                <a:spcPts val="280"/>
              </a:spcAft>
              <a:buSzPct val="100000"/>
              <a:buChar char="•"/>
            </a:pPr>
            <a:r>
              <a:rPr sz="1750"/>
              <a:t>OOD -&gt; family / mechanism / attack / context / paired-flip</a:t>
            </a:r>
            <a:endParaRPr lang="en-US"/>
          </a:p>
          <a:p>
            <a:pPr marL="152400" indent="-152400">
              <a:spcAft>
                <a:spcPts val="280"/>
              </a:spcAft>
              <a:buSzPct val="100000"/>
              <a:buChar char="•"/>
            </a:pPr>
            <a:r>
              <a:rPr sz="1750"/>
              <a:t>Budget -&gt; 3 x 10/family; Direct / CoT / Debate / Tool / Refusal-Aware / Ours</a:t>
            </a:r>
            <a:endParaRPr lang="en-US"/>
          </a:p>
        </p:txBody>
      </p:sp>
      <p:sp>
        <p:nvSpPr>
          <p:cNvPr id="38" name="Shape 35"/>
          <p:cNvSpPr/>
          <p:nvPr/>
        </p:nvSpPr>
        <p:spPr>
          <a:xfrm>
            <a:off x="11952000" y="3996000"/>
            <a:ext cx="10656000" cy="21405600"/>
          </a:xfrm>
          <a:prstGeom prst="roundRect">
            <a:avLst>
              <a:gd name="adj" fmla="val 571"/>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39" name="Shape 36"/>
          <p:cNvSpPr/>
          <p:nvPr/>
        </p:nvSpPr>
        <p:spPr>
          <a:xfrm>
            <a:off x="1213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40" name="Text 37"/>
          <p:cNvSpPr/>
          <p:nvPr/>
        </p:nvSpPr>
        <p:spPr>
          <a:xfrm>
            <a:off x="12297600" y="4233600"/>
            <a:ext cx="9964800" cy="396000"/>
          </a:xfrm>
          <a:prstGeom prst="rect">
            <a:avLst/>
          </a:prstGeom>
          <a:noFill/>
          <a:ln/>
        </p:spPr>
        <p:txBody>
          <a:bodyPr wrap="square" lIns="0" tIns="0" rIns="0" bIns="0" rtlCol="0" anchor="ctr"/>
          <a:lstStyle/>
          <a:p>
            <a:pPr marL="0" indent="0">
              <a:buNone/>
            </a:pPr>
            <a:r>
              <a:rPr lang="en-US" sz="3200" b="1" dirty="0">
                <a:solidFill>
                  <a:srgbClr val="163B6C"/>
                </a:solidFill>
                <a:latin typeface="Arial" pitchFamily="34" charset="0"/>
                <a:ea typeface="Arial" pitchFamily="34" charset="-122"/>
                <a:cs typeface="Arial" pitchFamily="34" charset="-120"/>
              </a:rPr>
              <a:t>4. Main Technical Details</a:t>
            </a:r>
            <a:endParaRPr lang="en-US" sz="3200" dirty="0"/>
          </a:p>
        </p:txBody>
      </p:sp>
      <p:sp>
        <p:nvSpPr>
          <p:cNvPr id="41" name="Text 38"/>
          <p:cNvSpPr/>
          <p:nvPr/>
        </p:nvSpPr>
        <p:spPr>
          <a:xfrm>
            <a:off x="12240000" y="4788000"/>
            <a:ext cx="10080000" cy="1008000"/>
          </a:xfrm>
          <a:prstGeom prst="rect">
            <a:avLst/>
          </a:prstGeom>
          <a:noFill/>
          <a:ln/>
        </p:spPr>
        <p:txBody>
          <a:bodyPr wrap="square" lIns="1016" tIns="1016" rIns="1016" bIns="1016" rtlCol="0" anchor="t">
            <a:spAutoFit/>
          </a:bodyPr>
          <a:lstStyle/>
          <a:p>
            <a:pPr marL="0" indent="0" algn="l">
              <a:lnSpc>
                <a:spcPct val="108000"/>
              </a:lnSpc>
              <a:spcAft>
                <a:spcPts val="300"/>
              </a:spcAft>
              <a:buNone/>
            </a:pPr>
            <a:r>
              <a:rPr sz="2000"/>
              <a:t>The third label is essential. Pearl's hierarchy implies that layer-k evidence generically underdetermines layer-(k+1) truth, so some public-view claims must be refused with a structured reason.</a:t>
            </a:r>
            <a:endParaRPr lang="en-US" sz="2400" dirty="0"/>
          </a:p>
        </p:txBody>
      </p:sp>
      <p:sp>
        <p:nvSpPr>
          <p:cNvPr id="42" name="Shape 39"/>
          <p:cNvSpPr/>
          <p:nvPr/>
        </p:nvSpPr>
        <p:spPr>
          <a:xfrm>
            <a:off x="12225600" y="5965200"/>
            <a:ext cx="10108800" cy="1548000"/>
          </a:xfrm>
          <a:prstGeom prst="roundRect">
            <a:avLst>
              <a:gd name="adj" fmla="val 1860"/>
            </a:avLst>
          </a:prstGeom>
          <a:solidFill>
            <a:srgbClr val="EAF2FF">
              <a:alpha val="92000"/>
            </a:srgbClr>
          </a:solidFill>
          <a:ln w="12700">
            <a:solidFill>
              <a:srgbClr val="5B8DEF"/>
            </a:solidFill>
            <a:prstDash val="solid"/>
          </a:ln>
        </p:spPr>
        <p:txBody>
          <a:bodyPr/>
          <a:lstStyle/>
          <a:p>
            <a:endParaRPr lang="zh-CN" altLang="en-US"/>
          </a:p>
        </p:txBody>
      </p:sp>
      <p:sp>
        <p:nvSpPr>
          <p:cNvPr id="43" name="Text 40"/>
          <p:cNvSpPr/>
          <p:nvPr/>
        </p:nvSpPr>
        <p:spPr>
          <a:xfrm>
            <a:off x="12455937" y="6394994"/>
            <a:ext cx="9648000" cy="720000"/>
          </a:xfrm>
          <a:prstGeom prst="rect">
            <a:avLst/>
          </a:prstGeom>
          <a:noFill/>
          <a:ln/>
        </p:spPr>
        <p:txBody>
          <a:bodyPr wrap="square" lIns="0" tIns="0" rIns="0" bIns="0" rtlCol="0" anchor="ctr">
            <a:spAutoFit/>
          </a:bodyPr>
          <a:lstStyle/>
          <a:p>
            <a:pPr marL="0" indent="0" algn="ctr">
              <a:spcAft>
                <a:spcPts val="300"/>
              </a:spcAft>
              <a:buNone/>
            </a:pPr>
            <a:r>
              <a:rPr sz="2000" b="1"/>
              <a:t>Proposition 1 (Abstention Necessity). If SCMs M1, M2 both induce public evidence E but disagree on target query q, then any verifier without an unidentifiable output is wrong on at least one of M1, M2.</a:t>
            </a:r>
            <a:endParaRPr lang="en-US" sz="2600" dirty="0"/>
          </a:p>
        </p:txBody>
      </p:sp>
      <p:sp>
        <p:nvSpPr>
          <p:cNvPr id="44" name="Shape 41"/>
          <p:cNvSpPr/>
          <p:nvPr/>
        </p:nvSpPr>
        <p:spPr>
          <a:xfrm>
            <a:off x="12225600" y="7670323"/>
            <a:ext cx="10108800" cy="2988000"/>
          </a:xfrm>
          <a:prstGeom prst="roundRect">
            <a:avLst>
              <a:gd name="adj" fmla="val 964"/>
            </a:avLst>
          </a:prstGeom>
          <a:solidFill>
            <a:srgbClr val="EAF7EE">
              <a:alpha val="82000"/>
            </a:srgbClr>
          </a:solidFill>
          <a:ln w="11430">
            <a:solidFill>
              <a:srgbClr val="D5DDE8"/>
            </a:solidFill>
            <a:prstDash val="solid"/>
          </a:ln>
        </p:spPr>
        <p:txBody>
          <a:bodyPr/>
          <a:lstStyle/>
          <a:p>
            <a:endParaRPr lang="zh-CN" altLang="en-US"/>
          </a:p>
        </p:txBody>
      </p:sp>
      <p:sp>
        <p:nvSpPr>
          <p:cNvPr id="45" name="Text 42"/>
          <p:cNvSpPr/>
          <p:nvPr/>
        </p:nvSpPr>
        <p:spPr>
          <a:xfrm>
            <a:off x="12384000" y="7786685"/>
            <a:ext cx="9792000" cy="259200"/>
          </a:xfrm>
          <a:prstGeom prst="rect">
            <a:avLst/>
          </a:prstGeom>
          <a:noFill/>
          <a:ln/>
        </p:spPr>
        <p:txBody>
          <a:bodyPr wrap="square" lIns="0" tIns="0" rIns="0" bIns="0" rtlCol="0" anchor="ctr"/>
          <a:lstStyle/>
          <a:p>
            <a:pPr marL="0" indent="0">
              <a:buNone/>
            </a:pPr>
            <a:r>
              <a:rPr lang="en-US" sz="2800" b="1" dirty="0">
                <a:solidFill>
                  <a:srgbClr val="6B7280"/>
                </a:solidFill>
                <a:latin typeface="Arial" pitchFamily="34" charset="0"/>
                <a:ea typeface="Arial" pitchFamily="34" charset="-122"/>
                <a:cs typeface="Arial" pitchFamily="34" charset="-120"/>
              </a:rPr>
              <a:t>Interpretation</a:t>
            </a:r>
            <a:endParaRPr lang="en-US" sz="2800" dirty="0"/>
          </a:p>
        </p:txBody>
      </p:sp>
      <p:sp>
        <p:nvSpPr>
          <p:cNvPr id="46" name="Text 43"/>
          <p:cNvSpPr/>
          <p:nvPr/>
        </p:nvSpPr>
        <p:spPr>
          <a:xfrm>
            <a:off x="12384000" y="8048788"/>
            <a:ext cx="9792000" cy="2512800"/>
          </a:xfrm>
          <a:prstGeom prst="rect">
            <a:avLst/>
          </a:prstGeom>
          <a:noFill/>
          <a:ln/>
        </p:spPr>
        <p:txBody>
          <a:bodyPr wrap="square" lIns="381" tIns="381" rIns="381" bIns="381" rtlCol="0" anchor="ctr">
            <a:spAutoFit/>
          </a:bodyPr>
          <a:lstStyle/>
          <a:p>
            <a:pPr marL="152400" indent="-152400">
              <a:spcAft>
                <a:spcPts val="300"/>
              </a:spcAft>
              <a:buSzPct val="100000"/>
              <a:buChar char="•"/>
            </a:pPr>
            <a:r>
              <a:rPr sz="1800"/>
              <a:t>Guarantee: yes/no-only verifiers must fail on observationally equivalent cases</a:t>
            </a:r>
            <a:endParaRPr lang="en-US" sz="2400" dirty="0"/>
          </a:p>
          <a:p>
            <a:pPr marL="152400" indent="-152400">
              <a:spcAft>
                <a:spcPts val="300"/>
              </a:spcAft>
              <a:buSzPct val="100000"/>
              <a:buChar char="•"/>
            </a:pPr>
            <a:r>
              <a:rPr sz="1800"/>
              <a:t>Mechanism: countermodel + ledger separate invalid from unidentifiable</a:t>
            </a:r>
            <a:endParaRPr lang="en-US" sz="2400" dirty="0"/>
          </a:p>
          <a:p>
            <a:pPr marL="152400" indent="-152400">
              <a:spcAft>
                <a:spcPts val="300"/>
              </a:spcAft>
              <a:buSzPct val="100000"/>
              <a:buChar char="•"/>
            </a:pPr>
            <a:r>
              <a:rPr sz="1800"/>
              <a:t>Output: refusal returns a reason plus a missing-information spec</a:t>
            </a:r>
            <a:endParaRPr lang="en-US" sz="2400" dirty="0"/>
          </a:p>
        </p:txBody>
      </p:sp>
      <p:sp>
        <p:nvSpPr>
          <p:cNvPr id="47" name="Shape 44"/>
          <p:cNvSpPr/>
          <p:nvPr/>
        </p:nvSpPr>
        <p:spPr>
          <a:xfrm>
            <a:off x="12225600" y="10764000"/>
            <a:ext cx="10108800" cy="6400800"/>
          </a:xfrm>
          <a:prstGeom prst="roundRect">
            <a:avLst>
              <a:gd name="adj" fmla="val 1176"/>
            </a:avLst>
          </a:prstGeom>
          <a:solidFill>
            <a:srgbClr val="FFFFFF"/>
          </a:solidFill>
          <a:ln w="11430">
            <a:solidFill>
              <a:srgbClr val="D5DDE8"/>
            </a:solidFill>
            <a:prstDash val="solid"/>
          </a:ln>
        </p:spPr>
        <p:txBody>
          <a:bodyPr/>
          <a:lstStyle/>
          <a:p>
            <a:endParaRPr lang="zh-CN" altLang="en-US"/>
          </a:p>
        </p:txBody>
      </p:sp>
      <p:sp>
        <p:nvSpPr>
          <p:cNvPr id="48" name="Text 45"/>
          <p:cNvSpPr/>
          <p:nvPr/>
        </p:nvSpPr>
        <p:spPr>
          <a:xfrm>
            <a:off x="12528000" y="11592000"/>
            <a:ext cx="9504000" cy="5943600"/>
          </a:xfrm>
          <a:prstGeom prst="rect">
            <a:avLst/>
          </a:prstGeom>
          <a:noFill/>
          <a:ln/>
        </p:spPr>
        <p:txBody>
          <a:bodyPr wrap="square" lIns="0" tIns="0" rIns="0" bIns="0" rtlCol="0" anchor="ctr">
            <a:noAutofit/>
          </a:bodyPr>
          <a:lstStyle/>
          <a:p>
            <a:pPr>
              <a:spcAft>
                <a:spcPts val="300"/>
              </a:spcAft>
            </a:pPr>
            <a:r>
              <a:rPr sz="2400" b="1"/>
              <a:t>Decision rule (fixed five-branch order):</a:t>
            </a:r>
          </a:p>
          <a:p>
            <a:pPr>
              <a:spcAft>
                <a:spcPts val="300"/>
              </a:spcAft>
            </a:pPr>
            <a:r>
              <a:rPr sz="2400"/>
              <a:t>1. strong invalid countermodel -&gt; INVALID</a:t>
            </a:r>
          </a:p>
          <a:p>
            <a:pPr>
              <a:spcAft>
                <a:spcPts val="300"/>
              </a:spcAft>
            </a:pPr>
            <a:r>
              <a:rPr sz="2400"/>
              <a:t>2. compatible models, disagree on q -&gt; UNIDENTIFIABLE (observational_equivalence)</a:t>
            </a:r>
          </a:p>
          <a:p>
            <a:pPr>
              <a:spcAft>
                <a:spcPts val="300"/>
              </a:spcAft>
            </a:pPr>
            <a:r>
              <a:rPr sz="2400"/>
              <a:t>3a. assumption contradicted by tools -&gt; INVALID</a:t>
            </a:r>
          </a:p>
          <a:p>
            <a:pPr>
              <a:spcAft>
                <a:spcPts val="300"/>
              </a:spcAft>
            </a:pPr>
            <a:r>
              <a:rPr sz="2400"/>
              <a:t>3b. ID assumption unsupported -&gt; UNIDENTIFIABLE (missing_identifying_support)</a:t>
            </a:r>
          </a:p>
          <a:p>
            <a:pPr>
              <a:spcAft>
                <a:spcPts val="300"/>
              </a:spcAft>
            </a:pPr>
            <a:r>
              <a:rPr sz="2400"/>
              <a:t>4. tools + ledger jointly support -&gt; VALID</a:t>
            </a:r>
          </a:p>
        </p:txBody>
      </p:sp>
      <p:sp>
        <p:nvSpPr>
          <p:cNvPr id="64" name="Shape 61"/>
          <p:cNvSpPr/>
          <p:nvPr/>
        </p:nvSpPr>
        <p:spPr>
          <a:xfrm>
            <a:off x="23112000" y="3996000"/>
            <a:ext cx="10656000" cy="21405600"/>
          </a:xfrm>
          <a:prstGeom prst="roundRect">
            <a:avLst>
              <a:gd name="adj" fmla="val 637"/>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65" name="Shape 62"/>
          <p:cNvSpPr/>
          <p:nvPr/>
        </p:nvSpPr>
        <p:spPr>
          <a:xfrm>
            <a:off x="23292000" y="4197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66" name="Text 63"/>
          <p:cNvSpPr/>
          <p:nvPr/>
        </p:nvSpPr>
        <p:spPr>
          <a:xfrm>
            <a:off x="23457600" y="4233600"/>
            <a:ext cx="9964800" cy="396000"/>
          </a:xfrm>
          <a:prstGeom prst="rect">
            <a:avLst/>
          </a:prstGeom>
          <a:noFill/>
          <a:ln/>
        </p:spPr>
        <p:txBody>
          <a:bodyPr wrap="square" lIns="0" tIns="0" rIns="0" bIns="0" rtlCol="0" anchor="ctr"/>
          <a:lstStyle/>
          <a:p>
            <a:r>
              <a:rPr sz="3200" b="1" dirty="0">
                <a:solidFill>
                  <a:srgbClr val="163B6C"/>
                </a:solidFill>
                <a:latin typeface="Arial" pitchFamily="34" charset="0"/>
                <a:cs typeface="Arial" pitchFamily="34" charset="-120"/>
              </a:rPr>
              <a:t>5. Main Results / Examples</a:t>
            </a:r>
          </a:p>
        </p:txBody>
      </p:sp>
      <p:sp>
        <p:nvSpPr>
          <p:cNvPr id="67" name="Text 64"/>
          <p:cNvSpPr/>
          <p:nvPr/>
        </p:nvSpPr>
        <p:spPr>
          <a:xfrm>
            <a:off x="23400000" y="4788000"/>
            <a:ext cx="10080000" cy="1008000"/>
          </a:xfrm>
          <a:prstGeom prst="rect">
            <a:avLst/>
          </a:prstGeom>
          <a:noFill/>
          <a:ln/>
        </p:spPr>
        <p:txBody>
          <a:bodyPr wrap="square" lIns="1016" tIns="1016" rIns="1016" bIns="1016" rtlCol="0" anchor="t">
            <a:spAutoFit/>
          </a:bodyPr>
          <a:lstStyle/>
          <a:p>
            <a:pPr>
              <a:spcAft>
                <a:spcPts val="300"/>
              </a:spcAft>
            </a:pPr>
            <a:r>
              <a:rPr sz="2000"/>
              <a:t>Baselines solve different parts of the task. We compare them under the same public/gold contract and read performance through verdict accuracy, unsafe acceptance, and wise refusal.</a:t>
            </a:r>
          </a:p>
        </p:txBody>
      </p:sp>
      <p:sp>
        <p:nvSpPr>
          <p:cNvPr id="68" name="Shape 65"/>
          <p:cNvSpPr/>
          <p:nvPr/>
        </p:nvSpPr>
        <p:spPr>
          <a:xfrm>
            <a:off x="23385600" y="5796000"/>
            <a:ext cx="10108800" cy="2916000"/>
          </a:xfrm>
          <a:prstGeom prst="roundRect">
            <a:avLst>
              <a:gd name="adj" fmla="val 988"/>
            </a:avLst>
          </a:prstGeom>
          <a:solidFill>
            <a:srgbClr val="FFFFFF"/>
          </a:solidFill>
          <a:ln w="15240">
            <a:solidFill>
              <a:srgbClr val="5B8DEF"/>
            </a:solidFill>
            <a:prstDash val="solid"/>
          </a:ln>
        </p:spPr>
        <p:txBody>
          <a:bodyPr/>
          <a:lstStyle/>
          <a:p>
            <a:endParaRPr lang="zh-CN" altLang="en-US"/>
          </a:p>
        </p:txBody>
      </p:sp>
      <p:sp>
        <p:nvSpPr>
          <p:cNvPr id="70" name="Shape 67"/>
          <p:cNvSpPr/>
          <p:nvPr/>
        </p:nvSpPr>
        <p:spPr>
          <a:xfrm>
            <a:off x="23385600" y="8964000"/>
            <a:ext cx="10108800" cy="3276000"/>
          </a:xfrm>
          <a:prstGeom prst="roundRect">
            <a:avLst>
              <a:gd name="adj" fmla="val 879"/>
            </a:avLst>
          </a:prstGeom>
          <a:solidFill>
            <a:srgbClr val="FFF8E6">
              <a:alpha val="82000"/>
            </a:srgbClr>
          </a:solidFill>
          <a:ln w="11430">
            <a:solidFill>
              <a:srgbClr val="D5DDE8"/>
            </a:solidFill>
            <a:prstDash val="solid"/>
          </a:ln>
        </p:spPr>
        <p:txBody>
          <a:bodyPr/>
          <a:lstStyle/>
          <a:p>
            <a:endParaRPr lang="zh-CN" altLang="en-US"/>
          </a:p>
        </p:txBody>
      </p:sp>
      <p:sp>
        <p:nvSpPr>
          <p:cNvPr id="71" name="Text 68"/>
          <p:cNvSpPr/>
          <p:nvPr/>
        </p:nvSpPr>
        <p:spPr>
          <a:xfrm>
            <a:off x="23544000" y="9079200"/>
            <a:ext cx="9792000" cy="259200"/>
          </a:xfrm>
          <a:prstGeom prst="rect">
            <a:avLst/>
          </a:prstGeom>
          <a:noFill/>
          <a:ln/>
        </p:spPr>
        <p:txBody>
          <a:bodyPr wrap="square" lIns="0" tIns="0" rIns="0" bIns="0" rtlCol="0" anchor="ctr">
            <a:normAutofit/>
          </a:bodyPr>
          <a:lstStyle/>
          <a:p>
            <a:pPr marL="0" indent="0">
              <a:spcAft>
                <a:spcPts val="300"/>
              </a:spcAft>
              <a:buNone/>
            </a:pPr>
            <a:r>
              <a:rPr sz="1600" b="1"/>
              <a:t>Result summary</a:t>
            </a:r>
            <a:endParaRPr lang="en-US" sz="2800" dirty="0"/>
          </a:p>
        </p:txBody>
      </p:sp>
      <p:sp>
        <p:nvSpPr>
          <p:cNvPr id="72" name="Text 69"/>
          <p:cNvSpPr/>
          <p:nvPr/>
        </p:nvSpPr>
        <p:spPr>
          <a:xfrm>
            <a:off x="23544000" y="9338400"/>
            <a:ext cx="9792000" cy="2800800"/>
          </a:xfrm>
          <a:prstGeom prst="rect">
            <a:avLst/>
          </a:prstGeom>
          <a:noFill/>
          <a:ln/>
        </p:spPr>
        <p:txBody>
          <a:bodyPr wrap="square" lIns="381" tIns="381" rIns="381" bIns="381" rtlCol="0" anchor="ctr">
            <a:spAutoFit/>
          </a:bodyPr>
          <a:lstStyle/>
          <a:p>
            <a:pPr marL="152400" indent="-152400">
              <a:spcAft>
                <a:spcPts val="300"/>
              </a:spcAft>
              <a:buSzPct val="100000"/>
              <a:buChar char="•"/>
            </a:pPr>
            <a:r>
              <a:rPr sz="1800"/>
              <a:t>Ours: 0.83 / 0.85 with 0 unsafe acceptance</a:t>
            </a:r>
            <a:endParaRPr lang="en-US" sz="2400" dirty="0"/>
          </a:p>
          <a:p>
            <a:pPr marL="152400" indent="-152400">
              <a:spcAft>
                <a:spcPts val="300"/>
              </a:spcAft>
              <a:buSzPct val="100000"/>
              <a:buChar char="•"/>
            </a:pPr>
            <a:r>
              <a:rPr sz="1800"/>
              <a:t>Direct Judge: over-accepts under public evidence</a:t>
            </a:r>
            <a:endParaRPr lang="en-US" sz="2400" dirty="0"/>
          </a:p>
          <a:p>
            <a:pPr marL="152400" indent="-152400">
              <a:spcAft>
                <a:spcPts val="300"/>
              </a:spcAft>
              <a:buSzPct val="100000"/>
              <a:buChar char="•"/>
            </a:pPr>
            <a:r>
              <a:rPr sz="1800"/>
              <a:t>No-Abstention: removes wise refusal entirely</a:t>
            </a:r>
            <a:endParaRPr lang="en-US" sz="2400" dirty="0"/>
          </a:p>
        </p:txBody>
      </p:sp>
      <p:sp>
        <p:nvSpPr>
          <p:cNvPr id="73" name="Shape 70"/>
          <p:cNvSpPr/>
          <p:nvPr/>
        </p:nvSpPr>
        <p:spPr>
          <a:xfrm>
            <a:off x="23112000" y="13320000"/>
            <a:ext cx="10656000" cy="8229600"/>
          </a:xfrm>
          <a:prstGeom prst="roundRect">
            <a:avLst>
              <a:gd name="adj" fmla="val 914"/>
            </a:avLst>
          </a:prstGeom>
          <a:solidFill>
            <a:srgbClr val="FFFFFF"/>
          </a:solidFill>
          <a:ln w="13970">
            <a:solidFill>
              <a:srgbClr val="D5DDE8"/>
            </a:solidFill>
            <a:prstDash val="solid"/>
          </a:ln>
          <a:effectLst>
            <a:outerShdw blurRad="12700" dist="50800" dir="2700000" algn="bl" rotWithShape="0">
              <a:srgbClr val="AAB4C8">
                <a:alpha val="12000"/>
              </a:srgbClr>
            </a:outerShdw>
          </a:effectLst>
        </p:spPr>
        <p:txBody>
          <a:bodyPr/>
          <a:lstStyle/>
          <a:p>
            <a:endParaRPr lang="zh-CN" altLang="en-US"/>
          </a:p>
        </p:txBody>
      </p:sp>
      <p:sp>
        <p:nvSpPr>
          <p:cNvPr id="74" name="Shape 71"/>
          <p:cNvSpPr/>
          <p:nvPr/>
        </p:nvSpPr>
        <p:spPr>
          <a:xfrm>
            <a:off x="23292000" y="13521600"/>
            <a:ext cx="10296000" cy="561600"/>
          </a:xfrm>
          <a:prstGeom prst="roundRect">
            <a:avLst>
              <a:gd name="adj" fmla="val 6410"/>
            </a:avLst>
          </a:prstGeom>
          <a:solidFill>
            <a:srgbClr val="EAF2FF"/>
          </a:solidFill>
          <a:ln w="6350">
            <a:solidFill>
              <a:srgbClr val="EAF2FF"/>
            </a:solidFill>
            <a:prstDash val="solid"/>
          </a:ln>
        </p:spPr>
        <p:txBody>
          <a:bodyPr/>
          <a:lstStyle/>
          <a:p>
            <a:endParaRPr lang="zh-CN" altLang="en-US"/>
          </a:p>
        </p:txBody>
      </p:sp>
      <p:sp>
        <p:nvSpPr>
          <p:cNvPr id="75" name="Text 72"/>
          <p:cNvSpPr/>
          <p:nvPr/>
        </p:nvSpPr>
        <p:spPr>
          <a:xfrm>
            <a:off x="23457600" y="13557600"/>
            <a:ext cx="9964800" cy="396000"/>
          </a:xfrm>
          <a:prstGeom prst="rect">
            <a:avLst/>
          </a:prstGeom>
          <a:noFill/>
          <a:ln/>
        </p:spPr>
        <p:txBody>
          <a:bodyPr wrap="square" lIns="0" tIns="0" rIns="0" bIns="0" rtlCol="0" anchor="ctr"/>
          <a:lstStyle/>
          <a:p>
            <a:r>
              <a:rPr lang="en" altLang="zh-CN" sz="3200" b="1" dirty="0">
                <a:solidFill>
                  <a:srgbClr val="163B6C"/>
                </a:solidFill>
                <a:latin typeface="Arial" pitchFamily="34" charset="0"/>
                <a:cs typeface="Arial" pitchFamily="34" charset="-120"/>
              </a:rPr>
              <a:t>Examples</a:t>
            </a:r>
            <a:endParaRPr sz="3200" dirty="0"/>
          </a:p>
        </p:txBody>
      </p:sp>
      <p:sp>
        <p:nvSpPr>
          <p:cNvPr id="76" name="Shape 73"/>
          <p:cNvSpPr/>
          <p:nvPr/>
        </p:nvSpPr>
        <p:spPr>
          <a:xfrm>
            <a:off x="23400000" y="14371200"/>
            <a:ext cx="4968000" cy="4114800"/>
          </a:xfrm>
          <a:prstGeom prst="roundRect">
            <a:avLst>
              <a:gd name="adj" fmla="val 611"/>
            </a:avLst>
          </a:prstGeom>
          <a:solidFill>
            <a:srgbClr val="EAF2FF">
              <a:alpha val="82000"/>
            </a:srgbClr>
          </a:solidFill>
          <a:ln w="11430">
            <a:solidFill>
              <a:srgbClr val="D5DDE8"/>
            </a:solidFill>
            <a:prstDash val="solid"/>
          </a:ln>
        </p:spPr>
        <p:txBody>
          <a:bodyPr/>
          <a:lstStyle/>
          <a:p>
            <a:endParaRPr lang="zh-CN" altLang="en-US"/>
          </a:p>
        </p:txBody>
      </p:sp>
      <p:sp>
        <p:nvSpPr>
          <p:cNvPr id="77" name="Text 74"/>
          <p:cNvSpPr/>
          <p:nvPr/>
        </p:nvSpPr>
        <p:spPr>
          <a:xfrm>
            <a:off x="23544000" y="14495891"/>
            <a:ext cx="4651200" cy="259200"/>
          </a:xfrm>
          <a:prstGeom prst="rect">
            <a:avLst/>
          </a:prstGeom>
          <a:noFill/>
          <a:ln/>
        </p:spPr>
        <p:txBody>
          <a:bodyPr wrap="square" lIns="0" tIns="0" rIns="0" bIns="0" rtlCol="0" anchor="ctr"/>
          <a:lstStyle/>
          <a:p>
            <a:pPr marL="0" indent="0">
              <a:buNone/>
            </a:pPr>
            <a:r>
              <a:rPr lang="en-US" sz="2400" b="1" dirty="0">
                <a:solidFill>
                  <a:srgbClr val="6B7280"/>
                </a:solidFill>
                <a:latin typeface="Arial" pitchFamily="34" charset="0"/>
                <a:ea typeface="Arial" pitchFamily="34" charset="-122"/>
                <a:cs typeface="Arial" pitchFamily="34" charset="-120"/>
              </a:rPr>
              <a:t>Example A</a:t>
            </a:r>
            <a:endParaRPr lang="en-US" sz="2400" dirty="0"/>
          </a:p>
        </p:txBody>
      </p:sp>
      <p:sp>
        <p:nvSpPr>
          <p:cNvPr id="78" name="Text 75"/>
          <p:cNvSpPr/>
          <p:nvPr/>
        </p:nvSpPr>
        <p:spPr>
          <a:xfrm>
            <a:off x="23544000" y="14500800"/>
            <a:ext cx="4651200" cy="3200400"/>
          </a:xfrm>
          <a:prstGeom prst="rect">
            <a:avLst/>
          </a:prstGeom>
          <a:noFill/>
          <a:ln/>
        </p:spPr>
        <p:txBody>
          <a:bodyPr wrap="square" lIns="381" tIns="381" rIns="381" bIns="381" rtlCol="0" anchor="ctr">
            <a:noAutofit/>
          </a:bodyPr>
          <a:lstStyle/>
          <a:p>
            <a:pPr marL="152400" indent="-152400">
              <a:spcAft>
                <a:spcPts val="300"/>
              </a:spcAft>
              <a:buSzPct val="100000"/>
              <a:buChar char="•"/>
            </a:pPr>
            <a:r>
              <a:rPr sz="2000"/>
              <a:t>Why third label matters: latent confounding leaves two public-compatible SCMs</a:t>
            </a:r>
            <a:endParaRPr lang="en-US" sz="2400" dirty="0"/>
          </a:p>
          <a:p>
            <a:pPr marL="152400" indent="-152400">
              <a:spcAft>
                <a:spcPts val="300"/>
              </a:spcAft>
              <a:buSzPct val="100000"/>
              <a:buChar char="•"/>
            </a:pPr>
            <a:r>
              <a:rPr sz="2000"/>
              <a:t>Output: counter-SCM disagrees on effect -&gt; UNIDENTIFIABLE + observational_equivalence</a:t>
            </a:r>
            <a:endParaRPr lang="en-US" sz="2400" dirty="0"/>
          </a:p>
        </p:txBody>
      </p:sp>
      <p:sp>
        <p:nvSpPr>
          <p:cNvPr id="79" name="Shape 76"/>
          <p:cNvSpPr/>
          <p:nvPr/>
        </p:nvSpPr>
        <p:spPr>
          <a:xfrm>
            <a:off x="28526400" y="14371200"/>
            <a:ext cx="4968000" cy="4114800"/>
          </a:xfrm>
          <a:prstGeom prst="roundRect">
            <a:avLst>
              <a:gd name="adj" fmla="val 611"/>
            </a:avLst>
          </a:prstGeom>
          <a:solidFill>
            <a:srgbClr val="EAF7EE">
              <a:alpha val="82000"/>
            </a:srgbClr>
          </a:solidFill>
          <a:ln w="11430">
            <a:solidFill>
              <a:srgbClr val="D5DDE8"/>
            </a:solidFill>
            <a:prstDash val="solid"/>
          </a:ln>
        </p:spPr>
        <p:txBody>
          <a:bodyPr/>
          <a:lstStyle/>
          <a:p>
            <a:endParaRPr lang="zh-CN" altLang="en-US"/>
          </a:p>
        </p:txBody>
      </p:sp>
      <p:sp>
        <p:nvSpPr>
          <p:cNvPr id="80" name="Text 77"/>
          <p:cNvSpPr/>
          <p:nvPr/>
        </p:nvSpPr>
        <p:spPr>
          <a:xfrm>
            <a:off x="28684800" y="14492618"/>
            <a:ext cx="4651200" cy="259200"/>
          </a:xfrm>
          <a:prstGeom prst="rect">
            <a:avLst/>
          </a:prstGeom>
          <a:noFill/>
          <a:ln/>
        </p:spPr>
        <p:txBody>
          <a:bodyPr wrap="square" lIns="0" tIns="0" rIns="0" bIns="0" rtlCol="0" anchor="ctr"/>
          <a:lstStyle/>
          <a:p>
            <a:pPr marL="0" indent="0">
              <a:buNone/>
            </a:pPr>
            <a:r>
              <a:rPr lang="en-US" sz="2400" b="1" dirty="0">
                <a:solidFill>
                  <a:srgbClr val="6B7280"/>
                </a:solidFill>
                <a:latin typeface="Arial" pitchFamily="34" charset="0"/>
                <a:ea typeface="Arial" pitchFamily="34" charset="-122"/>
                <a:cs typeface="Arial" pitchFamily="34" charset="-120"/>
              </a:rPr>
              <a:t>Example B</a:t>
            </a:r>
            <a:endParaRPr lang="en-US" sz="2400" dirty="0"/>
          </a:p>
        </p:txBody>
      </p:sp>
      <p:sp>
        <p:nvSpPr>
          <p:cNvPr id="81" name="Text 78"/>
          <p:cNvSpPr/>
          <p:nvPr/>
        </p:nvSpPr>
        <p:spPr>
          <a:xfrm>
            <a:off x="28684800" y="14500800"/>
            <a:ext cx="4651200" cy="3200400"/>
          </a:xfrm>
          <a:prstGeom prst="rect">
            <a:avLst/>
          </a:prstGeom>
          <a:noFill/>
          <a:ln/>
        </p:spPr>
        <p:txBody>
          <a:bodyPr wrap="square" lIns="381" tIns="381" rIns="381" bIns="381" rtlCol="0" anchor="ctr">
            <a:noAutofit/>
          </a:bodyPr>
          <a:lstStyle/>
          <a:p>
            <a:pPr marL="152400" indent="-152400">
              <a:spcAft>
                <a:spcPts val="300"/>
              </a:spcAft>
              <a:buSzPct val="100000"/>
              <a:buChar char="•"/>
            </a:pPr>
            <a:r>
              <a:rPr sz="2000"/>
              <a:t>Why partition matters: one gold-only field saturates the attack-only control</a:t>
            </a:r>
            <a:endParaRPr lang="en-US" sz="2400" dirty="0"/>
          </a:p>
          <a:p>
            <a:pPr marL="152400" indent="-152400">
              <a:spcAft>
                <a:spcPts val="300"/>
              </a:spcAft>
              <a:buSzPct val="100000"/>
              <a:buChar char="•"/>
            </a:pPr>
            <a:r>
              <a:rPr sz="2000"/>
              <a:t>Effect: clean 0.81 / 0.88 -&gt; leak 1.00 / 1.00; contamination, not oversight</a:t>
            </a:r>
            <a:endParaRPr lang="en-US" sz="2400" dirty="0"/>
          </a:p>
        </p:txBody>
      </p:sp>
      <p:pic>
        <p:nvPicPr>
          <p:cNvPr id="52" name="图片 51" descr="图片包含 文本&#10;&#10;AI 生成的内容可能不正确。">
            <a:extLst>
              <a:ext uri="{FF2B5EF4-FFF2-40B4-BE49-F238E27FC236}">
                <ns2:creationId id="{A7764834-5861-4AED-68D8-E9BD7FB160CC}"/>
              </a:ext>
            </a:extLst>
          </p:cNvPr>
          <p:cNvPicPr>
            <a:picLocks noChangeAspect="1"/>
          </p:cNvPicPr>
          <p:nvPr/>
        </p:nvPicPr>
        <p:blipFill>
          <a:blip r:embed="rId3"/>
          <a:stretch>
            <a:fillRect/>
          </a:stretch>
        </p:blipFill>
        <p:spPr>
          <a:xfrm>
            <a:off x="27936000" y="1227281"/>
            <a:ext cx="5652000" cy="1533059"/>
          </a:xfrm>
          <a:prstGeom prst="rect">
            <a:avLst/>
          </a:prstGeom>
        </p:spPr>
      </p:pic>
      <p:pic>
        <p:nvPicPr>
          <p:cNvPr id="82" name="Picture 81" descr="method_pipeline.png"/>
          <p:cNvPicPr>
            <a:picLocks noChangeAspect="1"/>
          </p:cNvPicPr>
          <p:nvPr/>
        </p:nvPicPr>
        <p:blipFill>
          <a:blip r:embed="rId4"/>
          <a:stretch>
            <a:fillRect/>
          </a:stretch>
        </p:blipFill>
        <p:spPr>
          <a:xfrm>
            <a:off x="1296000" y="14544000"/>
            <a:ext cx="9648000" cy="3101143"/>
          </a:xfrm>
          <a:prstGeom prst="rect">
            <a:avLst/>
          </a:prstGeom>
        </p:spPr>
      </p:pic>
      <p:graphicFrame>
        <p:nvGraphicFramePr>
          <p:cNvPr id="83" name="Table 82"/>
          <p:cNvGraphicFramePr>
            <a:graphicFrameLocks noGrp="1"/>
          </p:cNvGraphicFramePr>
          <p:nvPr/>
        </p:nvGraphicFramePr>
        <p:xfrm>
          <a:off x="23385600" y="5796000"/>
          <a:ext cx="10108800" cy="2916000"/>
        </p:xfrm>
        <a:graphic>
          <a:graphicData uri="http://schemas.openxmlformats.org/drawingml/2006/table">
            <a:tbl>
              <a:tblPr firstRow="1" bandRow="1">
                <a:tableStyleId>{5C22544A-7EE6-4342-B048-85BDC9FD1C3A}</a:tableStyleId>
              </a:tblPr>
              <a:tblGrid>
                <a:gridCol w="5863104"/>
                <a:gridCol w="2122848"/>
                <a:gridCol w="2122848"/>
              </a:tblGrid>
              <a:tr h="486000">
                <a:tc>
                  <a:txBody>
                    <a:bodyPr/>
                    <a:lstStyle/>
                    <a:p>
                      <a:r>
                        <a:rPr sz="1500" b="1"/>
                        <a:t>System</a:t>
                      </a:r>
                    </a:p>
                  </a:txBody>
                  <a:tcPr/>
                </a:tc>
                <a:tc>
                  <a:txBody>
                    <a:bodyPr/>
                    <a:lstStyle/>
                    <a:p>
                      <a:r>
                        <a:rPr sz="1500" b="1"/>
                        <a:t>IID</a:t>
                      </a:r>
                    </a:p>
                  </a:txBody>
                  <a:tcPr/>
                </a:tc>
                <a:tc>
                  <a:txBody>
                    <a:bodyPr/>
                    <a:lstStyle/>
                    <a:p>
                      <a:r>
                        <a:rPr sz="1500" b="1"/>
                        <a:t>OOD</a:t>
                      </a:r>
                    </a:p>
                  </a:txBody>
                  <a:tcPr/>
                </a:tc>
              </a:tr>
              <a:tr h="486000">
                <a:tc>
                  <a:txBody>
                    <a:bodyPr/>
                    <a:lstStyle/>
                    <a:p>
                      <a:r>
                        <a:rPr sz="1500" b="1"/>
                        <a:t>Countermodel-Grounded</a:t>
                      </a:r>
                    </a:p>
                  </a:txBody>
                  <a:tcPr/>
                </a:tc>
                <a:tc>
                  <a:txBody>
                    <a:bodyPr/>
                    <a:lstStyle/>
                    <a:p>
                      <a:r>
                        <a:rPr sz="1500" b="1"/>
                        <a:t>0.83</a:t>
                      </a:r>
                    </a:p>
                  </a:txBody>
                  <a:tcPr/>
                </a:tc>
                <a:tc>
                  <a:txBody>
                    <a:bodyPr/>
                    <a:lstStyle/>
                    <a:p>
                      <a:r>
                        <a:rPr sz="1500" b="1"/>
                        <a:t>0.85</a:t>
                      </a:r>
                    </a:p>
                  </a:txBody>
                  <a:tcPr/>
                </a:tc>
              </a:tr>
              <a:tr h="486000">
                <a:tc>
                  <a:txBody>
                    <a:bodyPr/>
                    <a:lstStyle/>
                    <a:p>
                      <a:r>
                        <a:rPr sz="1500" b="0"/>
                        <a:t>Direct Judge</a:t>
                      </a:r>
                    </a:p>
                  </a:txBody>
                  <a:tcPr/>
                </a:tc>
                <a:tc>
                  <a:txBody>
                    <a:bodyPr/>
                    <a:lstStyle/>
                    <a:p>
                      <a:r>
                        <a:rPr sz="1500" b="0"/>
                        <a:t>0.50</a:t>
                      </a:r>
                    </a:p>
                  </a:txBody>
                  <a:tcPr/>
                </a:tc>
                <a:tc>
                  <a:txBody>
                    <a:bodyPr/>
                    <a:lstStyle/>
                    <a:p>
                      <a:r>
                        <a:rPr sz="1500" b="0"/>
                        <a:t>0.16</a:t>
                      </a:r>
                    </a:p>
                  </a:txBody>
                  <a:tcPr/>
                </a:tc>
              </a:tr>
              <a:tr h="486000">
                <a:tc>
                  <a:txBody>
                    <a:bodyPr/>
                    <a:lstStyle/>
                    <a:p>
                      <a:r>
                        <a:rPr sz="1500" b="0"/>
                        <a:t>CoT Judge</a:t>
                      </a:r>
                    </a:p>
                  </a:txBody>
                  <a:tcPr/>
                </a:tc>
                <a:tc>
                  <a:txBody>
                    <a:bodyPr/>
                    <a:lstStyle/>
                    <a:p>
                      <a:r>
                        <a:rPr sz="1500" b="0"/>
                        <a:t>0.29</a:t>
                      </a:r>
                    </a:p>
                  </a:txBody>
                  <a:tcPr/>
                </a:tc>
                <a:tc>
                  <a:txBody>
                    <a:bodyPr/>
                    <a:lstStyle/>
                    <a:p>
                      <a:r>
                        <a:rPr sz="1500" b="0"/>
                        <a:t>0.57</a:t>
                      </a:r>
                    </a:p>
                  </a:txBody>
                  <a:tcPr/>
                </a:tc>
              </a:tr>
              <a:tr h="486000">
                <a:tc>
                  <a:txBody>
                    <a:bodyPr/>
                    <a:lstStyle/>
                    <a:p>
                      <a:r>
                        <a:rPr sz="1500" b="0"/>
                        <a:t>Tool Baseline</a:t>
                      </a:r>
                    </a:p>
                  </a:txBody>
                  <a:tcPr/>
                </a:tc>
                <a:tc>
                  <a:txBody>
                    <a:bodyPr/>
                    <a:lstStyle/>
                    <a:p>
                      <a:r>
                        <a:rPr sz="1500" b="0"/>
                        <a:t>0.54</a:t>
                      </a:r>
                    </a:p>
                  </a:txBody>
                  <a:tcPr/>
                </a:tc>
                <a:tc>
                  <a:txBody>
                    <a:bodyPr/>
                    <a:lstStyle/>
                    <a:p>
                      <a:r>
                        <a:rPr sz="1500" b="0"/>
                        <a:t>0.36</a:t>
                      </a:r>
                    </a:p>
                  </a:txBody>
                  <a:tcPr/>
                </a:tc>
              </a:tr>
              <a:tr h="486000">
                <a:tc>
                  <a:txBody>
                    <a:bodyPr/>
                    <a:lstStyle/>
                    <a:p>
                      <a:r>
                        <a:rPr sz="1500" b="0"/>
                        <a:t>Refusal-Aware</a:t>
                      </a:r>
                    </a:p>
                  </a:txBody>
                  <a:tcPr/>
                </a:tc>
                <a:tc>
                  <a:txBody>
                    <a:bodyPr/>
                    <a:lstStyle/>
                    <a:p>
                      <a:r>
                        <a:rPr sz="1500" b="0"/>
                        <a:t>0.61</a:t>
                      </a:r>
                    </a:p>
                  </a:txBody>
                  <a:tcPr/>
                </a:tc>
                <a:tc>
                  <a:txBody>
                    <a:bodyPr/>
                    <a:lstStyle/>
                    <a:p>
                      <a:r>
                        <a:rPr sz="1500" b="0"/>
                        <a:t>0.47</a:t>
                      </a:r>
                    </a:p>
                  </a:txBody>
                  <a:tcPr/>
                </a:tc>
              </a:tr>
            </a:tbl>
          </a:graphicData>
        </a:graphic>
      </p:graphicFrame>
      <p:pic>
        <p:nvPicPr>
          <p:cNvPr id="84" name="Picture 83" descr="image.png"/>
          <p:cNvPicPr>
            <a:picLocks noChangeAspect="1"/>
          </p:cNvPicPr>
          <p:nvPr/>
        </p:nvPicPr>
        <p:blipFill>
          <a:blip r:embed="rId5"/>
          <a:stretch>
            <a:fillRect/>
          </a:stretch>
        </p:blipFill>
        <p:spPr>
          <a:xfrm>
            <a:off x="12801600" y="17373600"/>
            <a:ext cx="8229600" cy="3263366"/>
          </a:xfrm>
          <a:prstGeom prst="rect">
            <a:avLst/>
          </a:prstGeom>
        </p:spPr>
      </p:pic>
      <p:pic>
        <p:nvPicPr>
          <p:cNvPr id="85" name="Picture 84" descr="image.png"/>
          <p:cNvPicPr>
            <a:picLocks noChangeAspect="1"/>
          </p:cNvPicPr>
          <p:nvPr/>
        </p:nvPicPr>
        <p:blipFill>
          <a:blip r:embed="rId6"/>
          <a:stretch>
            <a:fillRect/>
          </a:stretch>
        </p:blipFill>
        <p:spPr>
          <a:xfrm>
            <a:off x="12344400" y="20819845"/>
            <a:ext cx="9144000" cy="4522286"/>
          </a:xfrm>
          <a:prstGeom prst="rect">
            <a:avLst/>
          </a:prstGeom>
        </p:spPr>
      </p:pic>
      <p:pic>
        <p:nvPicPr>
          <p:cNvPr id="86" name="Picture 85" descr="image.png"/>
          <p:cNvPicPr>
            <a:picLocks noChangeAspect="1"/>
          </p:cNvPicPr>
          <p:nvPr/>
        </p:nvPicPr>
        <p:blipFill>
          <a:blip r:embed="rId7"/>
          <a:stretch>
            <a:fillRect/>
          </a:stretch>
        </p:blipFill>
        <p:spPr>
          <a:xfrm>
            <a:off x="23317200" y="19202400"/>
            <a:ext cx="10058400" cy="44054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477</Words>
  <Application>Microsoft Macintosh PowerPoint</Application>
  <PresentationFormat>自定义</PresentationFormat>
  <Paragraphs>49</Paragraphs>
  <Slides>1</Slides>
  <Notes>1</Notes>
  <HiddenSlides>0</HiddenSlides>
  <MMClips>0</MMClips>
  <ScaleCrop>false</ScaleCrop>
  <HeadingPairs>
    <vt:vector size="6" baseType="variant">
      <vt:variant>
        <vt:lpstr>已用的字体</vt:lpstr>
      </vt:variant>
      <vt:variant>
        <vt:i4>1</vt:i4>
      </vt:variant>
      <vt:variant>
        <vt:lpstr>主题</vt:lpstr>
      </vt:variant>
      <vt:variant>
        <vt:i4>1</vt:i4>
      </vt:variant>
      <vt:variant>
        <vt:lpstr>幻灯片标题</vt:lpstr>
      </vt:variant>
      <vt:variant>
        <vt:i4>1</vt:i4>
      </vt:variant>
    </vt:vector>
  </HeadingPairs>
  <TitlesOfParts>
    <vt:vector size="3" baseType="lpstr">
      <vt:lpstr>Arial</vt:lpstr>
      <vt:lpstr>Office Theme</vt:lpstr>
      <vt:lpstr>PowerPoint 演示文稿</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ICML-style Poster Template</dc:title>
  <dc:subject>ICML-style poster template</dc:subject>
  <dc:creator>OpenAI</dc:creator>
  <cp:lastModifiedBy>Yi He</cp:lastModifiedBy>
  <cp:revision>4</cp:revision>
  <dcterms:created xsi:type="dcterms:W3CDTF">2026-04-02T02:46:53Z</dcterms:created>
  <dcterms:modified xsi:type="dcterms:W3CDTF">2026-04-02T04:02:24Z</dcterms:modified>
</cp:coreProperties>
</file>